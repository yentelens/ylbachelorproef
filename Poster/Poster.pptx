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</p:sldMasterIdLst>
  <p:sldIdLst>
    <p:sldId id="256" r:id="rId6"/>
    <p:sldId id="259" r:id="rId7"/>
  </p:sldIdLst>
  <p:sldSz cx="14224000" cy="20104100"/>
  <p:notesSz cx="142240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37251-2470-499F-84EC-10A2249EA8EA}" v="1" dt="2025-05-08T09:50:04.861"/>
    <p1510:client id="{4E584840-EEC5-0E9F-3211-967E0C1FE0B4}" v="5" dt="2025-05-08T09:45:48.896"/>
    <p1510:client id="{AE70C358-8DD7-7E5D-4F77-1A8327C75F51}" v="5" dt="2025-05-08T09:42:31.39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7" d="100"/>
          <a:sy n="27" d="100"/>
        </p:scale>
        <p:origin x="263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6232271"/>
            <a:ext cx="1209040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F963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600" y="11258296"/>
            <a:ext cx="995680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963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963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120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536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963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97861"/>
            <a:ext cx="14224000" cy="2451460"/>
          </a:xfrm>
        </p:spPr>
        <p:txBody>
          <a:bodyPr wrap="square" lIns="1440000" tIns="360000" rIns="1440000" bIns="64800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132" b="1" cap="none" baseline="0">
                <a:solidFill>
                  <a:srgbClr val="FA6432"/>
                </a:solidFill>
                <a:latin typeface="Arial" pitchFamily="34" charset="0"/>
                <a:cs typeface="Arial" pitchFamily="34" charset="0"/>
              </a:defRPr>
            </a:lvl1pPr>
            <a:lvl2pPr marL="0" indent="0" algn="l">
              <a:lnSpc>
                <a:spcPct val="90000"/>
              </a:lnSpc>
              <a:spcBef>
                <a:spcPts val="845"/>
              </a:spcBef>
              <a:buFontTx/>
              <a:buNone/>
              <a:defRPr sz="2254" b="1">
                <a:latin typeface="Arial" pitchFamily="34" charset="0"/>
                <a:cs typeface="Arial" pitchFamily="34" charset="0"/>
              </a:defRPr>
            </a:lvl2pPr>
            <a:lvl3pPr marL="0" indent="0" algn="l">
              <a:spcBef>
                <a:spcPts val="1127"/>
              </a:spcBef>
              <a:buFontTx/>
              <a:buNone/>
              <a:defRPr sz="1691" b="0" i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defRPr sz="5635" b="0">
                <a:latin typeface="Arial" pitchFamily="34" charset="0"/>
                <a:cs typeface="Arial" pitchFamily="34" charset="0"/>
              </a:defRPr>
            </a:lvl4pPr>
            <a:lvl5pPr marL="0" indent="0">
              <a:defRPr sz="5635" b="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err="1"/>
              <a:t>Titel</a:t>
            </a:r>
            <a:endParaRPr lang="en-US" dirty="0"/>
          </a:p>
          <a:p>
            <a:pPr lvl="1"/>
            <a:r>
              <a:rPr lang="en-US" dirty="0" err="1"/>
              <a:t>Ondertitel</a:t>
            </a:r>
            <a:endParaRPr lang="en-US" dirty="0"/>
          </a:p>
        </p:txBody>
      </p:sp>
      <p:sp>
        <p:nvSpPr>
          <p:cNvPr id="53" name="Tijdelijke aanduiding voor tekst 52"/>
          <p:cNvSpPr>
            <a:spLocks noGrp="1"/>
          </p:cNvSpPr>
          <p:nvPr>
            <p:ph type="body" sz="quarter" idx="60" hasCustomPrompt="1"/>
          </p:nvPr>
        </p:nvSpPr>
        <p:spPr>
          <a:xfrm>
            <a:off x="4880536" y="752374"/>
            <a:ext cx="9301038" cy="980693"/>
          </a:xfrm>
        </p:spPr>
        <p:txBody>
          <a:bodyPr lIns="0" tIns="0" rIns="1440000" bIns="0" anchor="b" anchorCtr="0">
            <a:norm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FontTx/>
              <a:buNone/>
              <a:defRPr sz="1972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 dirty="0"/>
              <a:t>[Namen onderzoekers]</a:t>
            </a:r>
          </a:p>
        </p:txBody>
      </p:sp>
      <p:sp>
        <p:nvSpPr>
          <p:cNvPr id="17" name="Tijdelijke aanduiding voor tekst 52"/>
          <p:cNvSpPr>
            <a:spLocks noGrp="1"/>
          </p:cNvSpPr>
          <p:nvPr>
            <p:ph type="body" sz="quarter" idx="65" hasCustomPrompt="1"/>
          </p:nvPr>
        </p:nvSpPr>
        <p:spPr>
          <a:xfrm>
            <a:off x="2140465" y="18743020"/>
            <a:ext cx="6662820" cy="1361080"/>
          </a:xfrm>
        </p:spPr>
        <p:txBody>
          <a:bodyPr lIns="0" tIns="360000" rIns="0" bIns="360000" anchor="ctr" anchorCtr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503" b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 dirty="0"/>
              <a:t>[Contactgegevens]</a:t>
            </a:r>
          </a:p>
        </p:txBody>
      </p:sp>
      <p:sp>
        <p:nvSpPr>
          <p:cNvPr id="24" name="Tijdelijke aanduiding voor afbeelding 23"/>
          <p:cNvSpPr>
            <a:spLocks noGrp="1"/>
          </p:cNvSpPr>
          <p:nvPr>
            <p:ph type="pic" sz="quarter" idx="66"/>
          </p:nvPr>
        </p:nvSpPr>
        <p:spPr>
          <a:xfrm>
            <a:off x="676439" y="18168262"/>
            <a:ext cx="1183768" cy="1183464"/>
          </a:xfrm>
        </p:spPr>
        <p:txBody>
          <a:bodyPr>
            <a:normAutofit/>
          </a:bodyPr>
          <a:lstStyle>
            <a:lvl1pPr algn="l">
              <a:defRPr sz="564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26" name="Tijdelijke aanduiding voor tekst 25"/>
          <p:cNvSpPr>
            <a:spLocks noGrp="1"/>
          </p:cNvSpPr>
          <p:nvPr>
            <p:ph type="body" sz="quarter" idx="67"/>
          </p:nvPr>
        </p:nvSpPr>
        <p:spPr>
          <a:xfrm>
            <a:off x="676439" y="7479490"/>
            <a:ext cx="6172507" cy="2046257"/>
          </a:xfrm>
          <a:ln w="19050">
            <a:solidFill>
              <a:srgbClr val="00283C"/>
            </a:solidFill>
          </a:ln>
        </p:spPr>
        <p:txBody>
          <a:bodyPr lIns="360000" tIns="288000" rIns="360000" bIns="288000">
            <a:spAutoFit/>
          </a:bodyPr>
          <a:lstStyle>
            <a:lvl1pPr>
              <a:spcBef>
                <a:spcPts val="0"/>
              </a:spcBef>
              <a:spcAft>
                <a:spcPts val="564"/>
              </a:spcAft>
              <a:buFont typeface="Arial" pitchFamily="34" charset="0"/>
              <a:buNone/>
              <a:defRPr sz="1503" b="1" cap="all" baseline="0">
                <a:solidFill>
                  <a:srgbClr val="FA6432"/>
                </a:solidFill>
                <a:latin typeface="Arial" pitchFamily="34" charset="0"/>
                <a:cs typeface="Arial" pitchFamily="34" charset="0"/>
              </a:defRPr>
            </a:lvl1pPr>
            <a:lvl2pPr marL="0" indent="-202867">
              <a:spcBef>
                <a:spcPts val="0"/>
              </a:spcBef>
              <a:buFont typeface="Arial" pitchFamily="34" charset="0"/>
              <a:buNone/>
              <a:defRPr lang="nl-NL" sz="1503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3pPr>
            <a:lvl4pPr marL="405734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4pPr>
            <a:lvl5pPr marL="608602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8" name="Text Placeholder 18"/>
          <p:cNvSpPr>
            <a:spLocks noGrp="1"/>
          </p:cNvSpPr>
          <p:nvPr>
            <p:ph type="body" sz="quarter" idx="56"/>
          </p:nvPr>
        </p:nvSpPr>
        <p:spPr>
          <a:xfrm>
            <a:off x="676439" y="7143788"/>
            <a:ext cx="6172507" cy="338132"/>
          </a:xfrm>
          <a:prstGeom prst="round2SameRect">
            <a:avLst/>
          </a:prstGeom>
          <a:solidFill>
            <a:srgbClr val="00283C"/>
          </a:solidFill>
          <a:ln w="19050">
            <a:solidFill>
              <a:srgbClr val="00283C"/>
            </a:solidFill>
          </a:ln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503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9" name="Tijdelijke aanduiding voor tekst 25"/>
          <p:cNvSpPr>
            <a:spLocks noGrp="1"/>
          </p:cNvSpPr>
          <p:nvPr>
            <p:ph type="body" sz="quarter" idx="68"/>
          </p:nvPr>
        </p:nvSpPr>
        <p:spPr>
          <a:xfrm>
            <a:off x="7373187" y="7479490"/>
            <a:ext cx="6172507" cy="2046257"/>
          </a:xfrm>
          <a:ln w="19050">
            <a:solidFill>
              <a:srgbClr val="00283C"/>
            </a:solidFill>
          </a:ln>
        </p:spPr>
        <p:txBody>
          <a:bodyPr lIns="360000" tIns="288000" rIns="360000" bIns="288000">
            <a:spAutoFit/>
          </a:bodyPr>
          <a:lstStyle>
            <a:lvl1pPr>
              <a:spcBef>
                <a:spcPts val="0"/>
              </a:spcBef>
              <a:spcAft>
                <a:spcPts val="564"/>
              </a:spcAft>
              <a:buFont typeface="Arial" pitchFamily="34" charset="0"/>
              <a:buNone/>
              <a:defRPr sz="1503" b="1" cap="all" baseline="0">
                <a:solidFill>
                  <a:srgbClr val="FA6432"/>
                </a:solidFill>
                <a:latin typeface="Arial" pitchFamily="34" charset="0"/>
                <a:cs typeface="Arial" pitchFamily="34" charset="0"/>
              </a:defRPr>
            </a:lvl1pPr>
            <a:lvl2pPr marL="0" indent="-202867">
              <a:spcBef>
                <a:spcPts val="0"/>
              </a:spcBef>
              <a:buFont typeface="Arial" pitchFamily="34" charset="0"/>
              <a:buNone/>
              <a:defRPr lang="nl-NL" sz="1503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3pPr>
            <a:lvl4pPr marL="405734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4pPr>
            <a:lvl5pPr marL="608602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0" name="Text Placeholder 18"/>
          <p:cNvSpPr>
            <a:spLocks noGrp="1"/>
          </p:cNvSpPr>
          <p:nvPr>
            <p:ph type="body" sz="quarter" idx="58"/>
          </p:nvPr>
        </p:nvSpPr>
        <p:spPr>
          <a:xfrm>
            <a:off x="7373187" y="7143788"/>
            <a:ext cx="6172507" cy="338132"/>
          </a:xfrm>
          <a:prstGeom prst="round2SameRect">
            <a:avLst/>
          </a:prstGeom>
          <a:solidFill>
            <a:srgbClr val="00283C"/>
          </a:solidFill>
          <a:ln w="19050">
            <a:solidFill>
              <a:srgbClr val="00283C"/>
            </a:solidFill>
          </a:ln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503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0" name="Tijdelijke aanduiding voor tekst 25"/>
          <p:cNvSpPr>
            <a:spLocks noGrp="1"/>
          </p:cNvSpPr>
          <p:nvPr>
            <p:ph type="body" sz="quarter" idx="69"/>
          </p:nvPr>
        </p:nvSpPr>
        <p:spPr>
          <a:xfrm>
            <a:off x="676439" y="5012814"/>
            <a:ext cx="12869254" cy="1814976"/>
          </a:xfrm>
          <a:ln w="19050">
            <a:solidFill>
              <a:srgbClr val="00283C"/>
            </a:solidFill>
          </a:ln>
        </p:spPr>
        <p:txBody>
          <a:bodyPr lIns="360000" tIns="288000" rIns="360000" bIns="288000">
            <a:spAutoFit/>
          </a:bodyPr>
          <a:lstStyle>
            <a:lvl1pPr marL="0" indent="0">
              <a:spcBef>
                <a:spcPts val="0"/>
              </a:spcBef>
              <a:spcAft>
                <a:spcPts val="564"/>
              </a:spcAft>
              <a:buFont typeface="Arial" pitchFamily="34" charset="0"/>
              <a:buNone/>
              <a:tabLst>
                <a:tab pos="202867" algn="l"/>
              </a:tabLst>
              <a:defRPr sz="1503" b="1" cap="all" baseline="0">
                <a:solidFill>
                  <a:srgbClr val="FA6432"/>
                </a:solidFill>
                <a:latin typeface="Arial" pitchFamily="34" charset="0"/>
                <a:cs typeface="Arial" pitchFamily="34" charset="0"/>
              </a:defRPr>
            </a:lvl1pPr>
            <a:lvl2pPr marL="0" indent="-202867" defTabSz="202867">
              <a:spcBef>
                <a:spcPts val="0"/>
              </a:spcBef>
              <a:buFont typeface="Arial" pitchFamily="34" charset="0"/>
              <a:buNone/>
              <a:tabLst>
                <a:tab pos="202867" algn="l"/>
              </a:tabLst>
              <a:defRPr lang="nl-NL" sz="1503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3pPr>
            <a:lvl4pPr marL="405734" indent="-202867">
              <a:spcBef>
                <a:spcPts val="0"/>
              </a:spcBef>
              <a:tabLst>
                <a:tab pos="202867" algn="l"/>
              </a:tabLst>
              <a:defRPr sz="1503">
                <a:latin typeface="Arial" pitchFamily="34" charset="0"/>
                <a:cs typeface="Arial" pitchFamily="34" charset="0"/>
              </a:defRPr>
            </a:lvl4pPr>
            <a:lvl5pPr marL="608602" indent="-202867">
              <a:spcBef>
                <a:spcPts val="0"/>
              </a:spcBef>
              <a:tabLst>
                <a:tab pos="202867" algn="l"/>
              </a:tabLst>
              <a:defRPr sz="1503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27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676439" y="4675146"/>
            <a:ext cx="12869254" cy="338132"/>
          </a:xfrm>
          <a:prstGeom prst="round2SameRect">
            <a:avLst/>
          </a:prstGeom>
          <a:solidFill>
            <a:srgbClr val="00283C"/>
          </a:solidFill>
          <a:ln w="19050">
            <a:solidFill>
              <a:srgbClr val="00283C"/>
            </a:solidFill>
          </a:ln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503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1" name="Tijdelijke aanduiding voor tekst 25"/>
          <p:cNvSpPr>
            <a:spLocks noGrp="1"/>
          </p:cNvSpPr>
          <p:nvPr>
            <p:ph type="body" sz="quarter" idx="70"/>
          </p:nvPr>
        </p:nvSpPr>
        <p:spPr>
          <a:xfrm>
            <a:off x="676439" y="9985052"/>
            <a:ext cx="12869254" cy="1814976"/>
          </a:xfrm>
          <a:ln w="19050">
            <a:solidFill>
              <a:srgbClr val="00283C"/>
            </a:solidFill>
          </a:ln>
        </p:spPr>
        <p:txBody>
          <a:bodyPr lIns="360000" tIns="288000" rIns="360000" bIns="288000">
            <a:spAutoFit/>
          </a:bodyPr>
          <a:lstStyle>
            <a:lvl1pPr>
              <a:spcBef>
                <a:spcPts val="0"/>
              </a:spcBef>
              <a:spcAft>
                <a:spcPts val="564"/>
              </a:spcAft>
              <a:buFont typeface="Arial" pitchFamily="34" charset="0"/>
              <a:buNone/>
              <a:defRPr sz="1503" b="1" cap="all" baseline="0">
                <a:solidFill>
                  <a:srgbClr val="FA6432"/>
                </a:solidFill>
                <a:latin typeface="Arial" pitchFamily="34" charset="0"/>
                <a:cs typeface="Arial" pitchFamily="34" charset="0"/>
              </a:defRPr>
            </a:lvl1pPr>
            <a:lvl2pPr marL="0" indent="-202867">
              <a:spcBef>
                <a:spcPts val="0"/>
              </a:spcBef>
              <a:buFont typeface="Arial" pitchFamily="34" charset="0"/>
              <a:buNone/>
              <a:defRPr lang="nl-NL" sz="1503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3pPr>
            <a:lvl4pPr marL="405734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4pPr>
            <a:lvl5pPr marL="608602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4" name="Text Placeholder 18"/>
          <p:cNvSpPr>
            <a:spLocks noGrp="1"/>
          </p:cNvSpPr>
          <p:nvPr>
            <p:ph type="body" sz="quarter" idx="61"/>
          </p:nvPr>
        </p:nvSpPr>
        <p:spPr>
          <a:xfrm>
            <a:off x="676439" y="9646246"/>
            <a:ext cx="12869254" cy="338132"/>
          </a:xfrm>
          <a:prstGeom prst="round2SameRect">
            <a:avLst/>
          </a:prstGeom>
          <a:solidFill>
            <a:srgbClr val="00283C"/>
          </a:solidFill>
          <a:ln w="19050">
            <a:solidFill>
              <a:srgbClr val="00283C"/>
            </a:solidFill>
          </a:ln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503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2" name="Tijdelijke aanduiding voor tekst 25"/>
          <p:cNvSpPr>
            <a:spLocks noGrp="1"/>
          </p:cNvSpPr>
          <p:nvPr>
            <p:ph type="body" sz="quarter" idx="71"/>
          </p:nvPr>
        </p:nvSpPr>
        <p:spPr>
          <a:xfrm>
            <a:off x="676439" y="12365504"/>
            <a:ext cx="12869254" cy="1814976"/>
          </a:xfrm>
          <a:ln w="19050">
            <a:solidFill>
              <a:srgbClr val="FA6432"/>
            </a:solidFill>
          </a:ln>
        </p:spPr>
        <p:txBody>
          <a:bodyPr lIns="360000" tIns="288000" rIns="360000" bIns="288000">
            <a:spAutoFit/>
          </a:bodyPr>
          <a:lstStyle>
            <a:lvl1pPr>
              <a:spcBef>
                <a:spcPts val="0"/>
              </a:spcBef>
              <a:spcAft>
                <a:spcPts val="564"/>
              </a:spcAft>
              <a:buFont typeface="Arial" pitchFamily="34" charset="0"/>
              <a:buNone/>
              <a:defRPr sz="1503" b="1" cap="all" baseline="0">
                <a:solidFill>
                  <a:srgbClr val="FA6432"/>
                </a:solidFill>
                <a:latin typeface="Arial" pitchFamily="34" charset="0"/>
                <a:cs typeface="Arial" pitchFamily="34" charset="0"/>
              </a:defRPr>
            </a:lvl1pPr>
            <a:lvl2pPr marL="0" indent="-202867">
              <a:spcBef>
                <a:spcPts val="0"/>
              </a:spcBef>
              <a:buFont typeface="Arial" pitchFamily="34" charset="0"/>
              <a:buNone/>
              <a:defRPr lang="nl-NL" sz="1503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3pPr>
            <a:lvl4pPr marL="405734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4pPr>
            <a:lvl5pPr marL="608602" indent="-202867">
              <a:spcBef>
                <a:spcPts val="0"/>
              </a:spcBef>
              <a:defRPr sz="1503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6" name="Text Placeholder 18"/>
          <p:cNvSpPr>
            <a:spLocks noGrp="1"/>
          </p:cNvSpPr>
          <p:nvPr>
            <p:ph type="body" sz="quarter" idx="63"/>
          </p:nvPr>
        </p:nvSpPr>
        <p:spPr>
          <a:xfrm>
            <a:off x="676439" y="12027186"/>
            <a:ext cx="12869254" cy="338132"/>
          </a:xfrm>
          <a:prstGeom prst="round2SameRect">
            <a:avLst/>
          </a:prstGeom>
          <a:solidFill>
            <a:srgbClr val="FA6432"/>
          </a:solidFill>
          <a:ln w="19050">
            <a:solidFill>
              <a:srgbClr val="FA6432"/>
            </a:solidFill>
          </a:ln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503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8953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7" y="358"/>
            <a:ext cx="14218285" cy="2198370"/>
          </a:xfrm>
          <a:custGeom>
            <a:avLst/>
            <a:gdLst/>
            <a:ahLst/>
            <a:cxnLst/>
            <a:rect l="l" t="t" r="r" b="b"/>
            <a:pathLst>
              <a:path w="14218285" h="2198370">
                <a:moveTo>
                  <a:pt x="14218157" y="0"/>
                </a:moveTo>
                <a:lnTo>
                  <a:pt x="0" y="0"/>
                </a:lnTo>
                <a:lnTo>
                  <a:pt x="0" y="2197924"/>
                </a:lnTo>
                <a:lnTo>
                  <a:pt x="14218157" y="2197924"/>
                </a:lnTo>
                <a:lnTo>
                  <a:pt x="14218157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7" y="358"/>
            <a:ext cx="14218285" cy="2198370"/>
          </a:xfrm>
          <a:custGeom>
            <a:avLst/>
            <a:gdLst/>
            <a:ahLst/>
            <a:cxnLst/>
            <a:rect l="l" t="t" r="r" b="b"/>
            <a:pathLst>
              <a:path w="14218285" h="2198370">
                <a:moveTo>
                  <a:pt x="0" y="2197924"/>
                </a:moveTo>
                <a:lnTo>
                  <a:pt x="14218157" y="2197924"/>
                </a:lnTo>
                <a:lnTo>
                  <a:pt x="14218157" y="0"/>
                </a:lnTo>
                <a:lnTo>
                  <a:pt x="0" y="0"/>
                </a:lnTo>
                <a:lnTo>
                  <a:pt x="0" y="2197924"/>
                </a:lnTo>
                <a:close/>
              </a:path>
            </a:pathLst>
          </a:custGeom>
          <a:ln w="11928">
            <a:solidFill>
              <a:srgbClr val="F963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7" y="18751777"/>
            <a:ext cx="14218285" cy="1353185"/>
          </a:xfrm>
          <a:custGeom>
            <a:avLst/>
            <a:gdLst/>
            <a:ahLst/>
            <a:cxnLst/>
            <a:rect l="l" t="t" r="r" b="b"/>
            <a:pathLst>
              <a:path w="14218285" h="1353184">
                <a:moveTo>
                  <a:pt x="14218157" y="0"/>
                </a:moveTo>
                <a:lnTo>
                  <a:pt x="0" y="0"/>
                </a:lnTo>
                <a:lnTo>
                  <a:pt x="0" y="1352678"/>
                </a:lnTo>
                <a:lnTo>
                  <a:pt x="14218157" y="1352678"/>
                </a:lnTo>
                <a:lnTo>
                  <a:pt x="14218157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57" y="18751777"/>
            <a:ext cx="14218285" cy="1353185"/>
          </a:xfrm>
          <a:custGeom>
            <a:avLst/>
            <a:gdLst/>
            <a:ahLst/>
            <a:cxnLst/>
            <a:rect l="l" t="t" r="r" b="b"/>
            <a:pathLst>
              <a:path w="14218285" h="1353184">
                <a:moveTo>
                  <a:pt x="0" y="1352678"/>
                </a:moveTo>
                <a:lnTo>
                  <a:pt x="14218157" y="1352678"/>
                </a:lnTo>
                <a:lnTo>
                  <a:pt x="14218157" y="0"/>
                </a:lnTo>
                <a:lnTo>
                  <a:pt x="0" y="0"/>
                </a:lnTo>
                <a:lnTo>
                  <a:pt x="0" y="1352678"/>
                </a:lnTo>
                <a:close/>
              </a:path>
            </a:pathLst>
          </a:custGeom>
          <a:ln w="11928">
            <a:solidFill>
              <a:srgbClr val="F963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5584" y="18235398"/>
            <a:ext cx="2386154" cy="101415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7552" y="458050"/>
            <a:ext cx="3363804" cy="1342658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5853735" y="15782684"/>
            <a:ext cx="2304415" cy="1589405"/>
          </a:xfrm>
          <a:custGeom>
            <a:avLst/>
            <a:gdLst/>
            <a:ahLst/>
            <a:cxnLst/>
            <a:rect l="l" t="t" r="r" b="b"/>
            <a:pathLst>
              <a:path w="2304415" h="1589405">
                <a:moveTo>
                  <a:pt x="2303848" y="0"/>
                </a:moveTo>
                <a:lnTo>
                  <a:pt x="0" y="0"/>
                </a:lnTo>
                <a:lnTo>
                  <a:pt x="1151924" y="1588860"/>
                </a:lnTo>
                <a:lnTo>
                  <a:pt x="2303848" y="0"/>
                </a:lnTo>
                <a:close/>
              </a:path>
            </a:pathLst>
          </a:custGeom>
          <a:solidFill>
            <a:srgbClr val="FCC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823438" y="4425911"/>
            <a:ext cx="8438515" cy="11356975"/>
          </a:xfrm>
          <a:custGeom>
            <a:avLst/>
            <a:gdLst/>
            <a:ahLst/>
            <a:cxnLst/>
            <a:rect l="l" t="t" r="r" b="b"/>
            <a:pathLst>
              <a:path w="8438515" h="11356975">
                <a:moveTo>
                  <a:pt x="8438147" y="6115151"/>
                </a:moveTo>
                <a:lnTo>
                  <a:pt x="8427352" y="6094933"/>
                </a:lnTo>
                <a:lnTo>
                  <a:pt x="8429549" y="6094933"/>
                </a:lnTo>
                <a:lnTo>
                  <a:pt x="8429549" y="0"/>
                </a:lnTo>
                <a:lnTo>
                  <a:pt x="6844982" y="0"/>
                </a:lnTo>
                <a:lnTo>
                  <a:pt x="6844982" y="5169179"/>
                </a:lnTo>
                <a:lnTo>
                  <a:pt x="4288828" y="6532943"/>
                </a:lnTo>
                <a:lnTo>
                  <a:pt x="4100423" y="6532943"/>
                </a:lnTo>
                <a:lnTo>
                  <a:pt x="1584566" y="5170525"/>
                </a:lnTo>
                <a:lnTo>
                  <a:pt x="1584566" y="25057"/>
                </a:lnTo>
                <a:lnTo>
                  <a:pt x="0" y="25057"/>
                </a:lnTo>
                <a:lnTo>
                  <a:pt x="0" y="6119977"/>
                </a:lnTo>
                <a:lnTo>
                  <a:pt x="26314" y="6119977"/>
                </a:lnTo>
                <a:lnTo>
                  <a:pt x="22669" y="6126721"/>
                </a:lnTo>
                <a:lnTo>
                  <a:pt x="3389579" y="7950022"/>
                </a:lnTo>
                <a:lnTo>
                  <a:pt x="3389579" y="11356785"/>
                </a:lnTo>
                <a:lnTo>
                  <a:pt x="4974145" y="11356785"/>
                </a:lnTo>
                <a:lnTo>
                  <a:pt x="4974145" y="7963306"/>
                </a:lnTo>
                <a:lnTo>
                  <a:pt x="8438147" y="6115151"/>
                </a:lnTo>
                <a:close/>
              </a:path>
            </a:pathLst>
          </a:custGeom>
          <a:solidFill>
            <a:srgbClr val="FCC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3639" y="2300572"/>
            <a:ext cx="10895965" cy="1223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F963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4623943"/>
            <a:ext cx="1280160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6160" y="18696814"/>
            <a:ext cx="455168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120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4128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8056847"/>
            <a:ext cx="12801600" cy="9901888"/>
          </a:xfrm>
          <a:prstGeom prst="rect">
            <a:avLst/>
          </a:prstGeom>
        </p:spPr>
        <p:txBody>
          <a:bodyPr vert="horz" lIns="417643" tIns="208822" rIns="417643" bIns="208822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4222133" cy="2197861"/>
          </a:xfrm>
          <a:prstGeom prst="rect">
            <a:avLst/>
          </a:prstGeom>
          <a:solidFill>
            <a:srgbClr val="FA6432"/>
          </a:solidFill>
          <a:ln>
            <a:solidFill>
              <a:srgbClr val="FA64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/>
          <p:cNvSpPr/>
          <p:nvPr/>
        </p:nvSpPr>
        <p:spPr>
          <a:xfrm>
            <a:off x="0" y="18751570"/>
            <a:ext cx="14222133" cy="1352530"/>
          </a:xfrm>
          <a:prstGeom prst="rect">
            <a:avLst/>
          </a:prstGeom>
          <a:solidFill>
            <a:srgbClr val="FA6432"/>
          </a:solidFill>
          <a:ln>
            <a:solidFill>
              <a:srgbClr val="FA64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Afbeelding 8" descr="ASSO_LOGO_CMY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18710" y="18235484"/>
            <a:ext cx="2386350" cy="1014397"/>
          </a:xfrm>
          <a:prstGeom prst="rect">
            <a:avLst/>
          </a:prstGeom>
        </p:spPr>
      </p:pic>
      <p:pic>
        <p:nvPicPr>
          <p:cNvPr id="4" name="Afbeelding 3" descr="Afbeelding met Lettertype, tekst, Graphics, logo&#10;&#10;Automatisch gegenereerde beschrijving">
            <a:extLst>
              <a:ext uri="{FF2B5EF4-FFF2-40B4-BE49-F238E27FC236}">
                <a16:creationId xmlns:a16="http://schemas.microsoft.com/office/drawing/2014/main" id="{FBD09DB9-015E-70F6-74AB-5A0DAFE7F0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1" y="458004"/>
            <a:ext cx="3365011" cy="13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5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1961252" rtl="0" eaLnBrk="1" latinLnBrk="0" hangingPunct="1">
        <a:spcBef>
          <a:spcPct val="0"/>
        </a:spcBef>
        <a:buNone/>
        <a:defRPr sz="5635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202867" rtl="0" eaLnBrk="1" latinLnBrk="0" hangingPunct="1">
        <a:spcBef>
          <a:spcPts val="0"/>
        </a:spcBef>
        <a:spcAft>
          <a:spcPts val="564"/>
        </a:spcAft>
        <a:buFont typeface="Arial" pitchFamily="34" charset="0"/>
        <a:buNone/>
        <a:tabLst>
          <a:tab pos="202867" algn="l"/>
        </a:tabLst>
        <a:defRPr sz="1503" b="1" kern="1200" cap="all" baseline="0">
          <a:solidFill>
            <a:srgbClr val="F04C25"/>
          </a:solidFill>
          <a:latin typeface="Arial" pitchFamily="34" charset="0"/>
          <a:ea typeface="+mn-ea"/>
          <a:cs typeface="Arial" pitchFamily="34" charset="0"/>
        </a:defRPr>
      </a:lvl1pPr>
      <a:lvl2pPr marL="0" indent="0" algn="l" defTabSz="202867" rtl="0" eaLnBrk="1" latinLnBrk="0" hangingPunct="1">
        <a:spcBef>
          <a:spcPts val="0"/>
        </a:spcBef>
        <a:buFont typeface="Arial" pitchFamily="34" charset="0"/>
        <a:buNone/>
        <a:tabLst>
          <a:tab pos="202867" algn="l"/>
        </a:tabLst>
        <a:defRPr sz="150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202867" indent="-202867" algn="l" defTabSz="202867" rtl="0" eaLnBrk="1" latinLnBrk="0" hangingPunct="1">
        <a:spcBef>
          <a:spcPts val="0"/>
        </a:spcBef>
        <a:buFont typeface="Arial" pitchFamily="34" charset="0"/>
        <a:buChar char="•"/>
        <a:tabLst>
          <a:tab pos="202867" algn="l"/>
        </a:tabLst>
        <a:defRPr sz="150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405734" indent="-202867" algn="l" defTabSz="202867" rtl="0" eaLnBrk="1" latinLnBrk="0" hangingPunct="1">
        <a:spcBef>
          <a:spcPts val="0"/>
        </a:spcBef>
        <a:buFont typeface="Arial" pitchFamily="34" charset="0"/>
        <a:buChar char="–"/>
        <a:tabLst>
          <a:tab pos="202867" algn="l"/>
        </a:tabLst>
        <a:defRPr sz="150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608602" indent="-202867" algn="l" defTabSz="202867" rtl="0" eaLnBrk="1" latinLnBrk="0" hangingPunct="1">
        <a:spcBef>
          <a:spcPts val="0"/>
        </a:spcBef>
        <a:buFont typeface="Arial" pitchFamily="34" charset="0"/>
        <a:buChar char="»"/>
        <a:tabLst>
          <a:tab pos="202867" algn="l"/>
        </a:tabLst>
        <a:defRPr sz="150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5393442" indent="-490313" algn="l" defTabSz="1961252" rtl="0" eaLnBrk="1" latinLnBrk="0" hangingPunct="1">
        <a:spcBef>
          <a:spcPct val="20000"/>
        </a:spcBef>
        <a:buFont typeface="Arial" pitchFamily="34" charset="0"/>
        <a:buChar char="•"/>
        <a:defRPr sz="4273" kern="1200">
          <a:solidFill>
            <a:schemeClr val="tx1"/>
          </a:solidFill>
          <a:latin typeface="+mn-lt"/>
          <a:ea typeface="+mn-ea"/>
          <a:cs typeface="+mn-cs"/>
        </a:defRPr>
      </a:lvl6pPr>
      <a:lvl7pPr marL="6374068" indent="-490313" algn="l" defTabSz="1961252" rtl="0" eaLnBrk="1" latinLnBrk="0" hangingPunct="1">
        <a:spcBef>
          <a:spcPct val="20000"/>
        </a:spcBef>
        <a:buFont typeface="Arial" pitchFamily="34" charset="0"/>
        <a:buChar char="•"/>
        <a:defRPr sz="4273" kern="1200">
          <a:solidFill>
            <a:schemeClr val="tx1"/>
          </a:solidFill>
          <a:latin typeface="+mn-lt"/>
          <a:ea typeface="+mn-ea"/>
          <a:cs typeface="+mn-cs"/>
        </a:defRPr>
      </a:lvl7pPr>
      <a:lvl8pPr marL="7354694" indent="-490313" algn="l" defTabSz="1961252" rtl="0" eaLnBrk="1" latinLnBrk="0" hangingPunct="1">
        <a:spcBef>
          <a:spcPct val="20000"/>
        </a:spcBef>
        <a:buFont typeface="Arial" pitchFamily="34" charset="0"/>
        <a:buChar char="•"/>
        <a:defRPr sz="4273" kern="1200">
          <a:solidFill>
            <a:schemeClr val="tx1"/>
          </a:solidFill>
          <a:latin typeface="+mn-lt"/>
          <a:ea typeface="+mn-ea"/>
          <a:cs typeface="+mn-cs"/>
        </a:defRPr>
      </a:lvl8pPr>
      <a:lvl9pPr marL="8335320" indent="-490313" algn="l" defTabSz="1961252" rtl="0" eaLnBrk="1" latinLnBrk="0" hangingPunct="1">
        <a:spcBef>
          <a:spcPct val="20000"/>
        </a:spcBef>
        <a:buFont typeface="Arial" pitchFamily="34" charset="0"/>
        <a:buChar char="•"/>
        <a:defRPr sz="42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1pPr>
      <a:lvl2pPr marL="980626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2pPr>
      <a:lvl3pPr marL="1961252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3pPr>
      <a:lvl4pPr marL="2941878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4pPr>
      <a:lvl5pPr marL="3922504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5pPr>
      <a:lvl6pPr marL="4903129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6pPr>
      <a:lvl7pPr marL="5883756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7pPr>
      <a:lvl8pPr marL="6864381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8pPr>
      <a:lvl9pPr marL="7845007" algn="l" defTabSz="1961252" rtl="0" eaLnBrk="1" latinLnBrk="0" hangingPunct="1">
        <a:defRPr sz="3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omasmore.be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470"/>
              </a:lnSpc>
              <a:spcBef>
                <a:spcPts val="655"/>
              </a:spcBef>
            </a:pPr>
            <a:r>
              <a:rPr dirty="0"/>
              <a:t>Technische</a:t>
            </a:r>
            <a:r>
              <a:rPr spc="15" dirty="0"/>
              <a:t> </a:t>
            </a:r>
            <a:r>
              <a:rPr dirty="0"/>
              <a:t>aspecten</a:t>
            </a:r>
            <a:r>
              <a:rPr spc="25" dirty="0"/>
              <a:t> </a:t>
            </a:r>
            <a:r>
              <a:rPr dirty="0"/>
              <a:t>van</a:t>
            </a:r>
            <a:r>
              <a:rPr spc="90" dirty="0"/>
              <a:t> </a:t>
            </a:r>
            <a:r>
              <a:rPr dirty="0"/>
              <a:t>Wire</a:t>
            </a:r>
            <a:r>
              <a:rPr spc="-125" dirty="0"/>
              <a:t> </a:t>
            </a:r>
            <a:r>
              <a:rPr dirty="0"/>
              <a:t>Arc</a:t>
            </a:r>
            <a:r>
              <a:rPr spc="-135" dirty="0"/>
              <a:t> </a:t>
            </a:r>
            <a:r>
              <a:rPr spc="-10" dirty="0"/>
              <a:t>Additive </a:t>
            </a:r>
            <a:r>
              <a:rPr dirty="0"/>
              <a:t>Manufacturing</a:t>
            </a:r>
            <a:r>
              <a:rPr spc="150" dirty="0"/>
              <a:t> </a:t>
            </a:r>
            <a:r>
              <a:rPr spc="-10" dirty="0"/>
              <a:t>(WAAM)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639" y="3648241"/>
            <a:ext cx="10982325" cy="6781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430"/>
              </a:lnSpc>
              <a:spcBef>
                <a:spcPts val="409"/>
              </a:spcBef>
            </a:pPr>
            <a:r>
              <a:rPr sz="2250" b="1" dirty="0">
                <a:latin typeface="Arial"/>
                <a:cs typeface="Arial"/>
              </a:rPr>
              <a:t>Een</a:t>
            </a:r>
            <a:r>
              <a:rPr sz="2250" b="1" spc="-2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focus</a:t>
            </a:r>
            <a:r>
              <a:rPr sz="2250" b="1" spc="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op</a:t>
            </a:r>
            <a:r>
              <a:rPr sz="2250" b="1" spc="-2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aluminium</a:t>
            </a:r>
            <a:r>
              <a:rPr sz="2250" b="1" spc="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parameters,</a:t>
            </a:r>
            <a:r>
              <a:rPr sz="2250" b="1" spc="-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praktische</a:t>
            </a:r>
            <a:r>
              <a:rPr sz="2250" b="1" spc="1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haalbaarheid</a:t>
            </a:r>
            <a:r>
              <a:rPr sz="2250" b="1" spc="1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en</a:t>
            </a:r>
            <a:r>
              <a:rPr sz="2250" b="1" spc="-15" dirty="0">
                <a:latin typeface="Arial"/>
                <a:cs typeface="Arial"/>
              </a:rPr>
              <a:t> </a:t>
            </a:r>
            <a:r>
              <a:rPr sz="2250" b="1" spc="-10" dirty="0">
                <a:latin typeface="Arial"/>
                <a:cs typeface="Arial"/>
              </a:rPr>
              <a:t>schaalbaarheid </a:t>
            </a:r>
            <a:r>
              <a:rPr sz="2250" b="1" dirty="0">
                <a:latin typeface="Arial"/>
                <a:cs typeface="Arial"/>
              </a:rPr>
              <a:t>Bachelor Ontwerp-</a:t>
            </a:r>
            <a:r>
              <a:rPr sz="2250" b="1" spc="5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en</a:t>
            </a:r>
            <a:r>
              <a:rPr sz="2250" b="1" spc="-15" dirty="0">
                <a:latin typeface="Arial"/>
                <a:cs typeface="Arial"/>
              </a:rPr>
              <a:t> </a:t>
            </a:r>
            <a:r>
              <a:rPr sz="2250" b="1" dirty="0" err="1">
                <a:latin typeface="Arial"/>
                <a:cs typeface="Arial"/>
              </a:rPr>
              <a:t>Productietechnologie</a:t>
            </a:r>
            <a:r>
              <a:rPr sz="2250" b="1" spc="30" dirty="0">
                <a:latin typeface="Arial"/>
                <a:cs typeface="Arial"/>
              </a:rPr>
              <a:t> </a:t>
            </a:r>
            <a:r>
              <a:rPr lang="nl-BE" sz="2250" b="1" spc="30" dirty="0">
                <a:latin typeface="Arial"/>
                <a:cs typeface="Arial"/>
              </a:rPr>
              <a:t>|</a:t>
            </a:r>
            <a:r>
              <a:rPr sz="2250" b="1" spc="-10" dirty="0">
                <a:latin typeface="Arial"/>
                <a:cs typeface="Arial"/>
              </a:rPr>
              <a:t> Design</a:t>
            </a:r>
            <a:endParaRPr sz="22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1376" y="9137650"/>
            <a:ext cx="6170930" cy="1285608"/>
          </a:xfrm>
          <a:prstGeom prst="rect">
            <a:avLst/>
          </a:prstGeom>
          <a:ln w="8946">
            <a:solidFill>
              <a:srgbClr val="00283B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71475" indent="-203200">
              <a:lnSpc>
                <a:spcPct val="100000"/>
              </a:lnSpc>
              <a:spcBef>
                <a:spcPts val="1025"/>
              </a:spcBef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Lasbaarheidsgebied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opstellen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via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enkele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las</a:t>
            </a:r>
            <a:endParaRPr sz="1500" dirty="0">
              <a:latin typeface="Arial"/>
              <a:cs typeface="Arial"/>
            </a:endParaRPr>
          </a:p>
          <a:p>
            <a:pPr marL="371475" indent="-203200">
              <a:lnSpc>
                <a:spcPct val="100000"/>
              </a:lnSpc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Parameterbepaling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(laaghoogte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–breedte)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muren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aluminium</a:t>
            </a:r>
            <a:endParaRPr sz="1500" dirty="0">
              <a:latin typeface="Arial"/>
              <a:cs typeface="Arial"/>
            </a:endParaRPr>
          </a:p>
          <a:p>
            <a:pPr marL="371475" marR="621030" indent="-202565">
              <a:lnSpc>
                <a:spcPct val="100000"/>
              </a:lnSpc>
              <a:spcBef>
                <a:spcPts val="5"/>
              </a:spcBef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Optimaliseren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oppervlakteruwheid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inbranding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(invloed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van </a:t>
            </a:r>
            <a:r>
              <a:rPr sz="1500" dirty="0">
                <a:latin typeface="Arial"/>
                <a:cs typeface="Arial"/>
              </a:rPr>
              <a:t>beschermgas en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interpass-temperatuur)</a:t>
            </a:r>
            <a:endParaRPr sz="1500" dirty="0">
              <a:latin typeface="Arial"/>
              <a:cs typeface="Arial"/>
            </a:endParaRPr>
          </a:p>
          <a:p>
            <a:pPr marL="371475" indent="-203200">
              <a:lnSpc>
                <a:spcPct val="100000"/>
              </a:lnSpc>
              <a:spcBef>
                <a:spcPts val="10"/>
              </a:spcBef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Reeds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uitgedokterde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strategie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toetsen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 err="1">
                <a:latin typeface="Arial"/>
                <a:cs typeface="Arial"/>
              </a:rPr>
              <a:t>gedrag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 err="1">
                <a:latin typeface="Arial"/>
                <a:cs typeface="Arial"/>
              </a:rPr>
              <a:t>aluminium</a:t>
            </a:r>
            <a:endParaRPr lang="nl-BE" sz="1500" spc="-1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697" y="5013142"/>
            <a:ext cx="12865735" cy="592469"/>
          </a:xfrm>
          <a:prstGeom prst="rect">
            <a:avLst/>
          </a:prstGeom>
          <a:ln w="8946">
            <a:solidFill>
              <a:srgbClr val="00283B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3498215" marR="184150" indent="-3307079">
              <a:lnSpc>
                <a:spcPct val="100000"/>
              </a:lnSpc>
              <a:spcBef>
                <a:spcPts val="1019"/>
              </a:spcBef>
            </a:pPr>
            <a:r>
              <a:rPr sz="1500" dirty="0">
                <a:latin typeface="Arial"/>
                <a:cs typeface="Arial"/>
              </a:rPr>
              <a:t>Produceer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een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Aluminium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bootschroef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 err="1">
                <a:latin typeface="Arial"/>
                <a:cs typeface="Arial"/>
              </a:rPr>
              <a:t>behulp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</a:t>
            </a:r>
            <a:r>
              <a:rPr lang="nl-BE" sz="1500" spc="3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WAAM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bewerk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deze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na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CNC.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 err="1">
                <a:latin typeface="Arial"/>
                <a:cs typeface="Arial"/>
              </a:rPr>
              <a:t>Bekijk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een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economische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voordeliger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 err="1">
                <a:latin typeface="Arial"/>
                <a:cs typeface="Arial"/>
              </a:rPr>
              <a:t>alternatief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25" dirty="0" err="1">
                <a:latin typeface="Arial"/>
                <a:cs typeface="Arial"/>
              </a:rPr>
              <a:t>i</a:t>
            </a:r>
            <a:r>
              <a:rPr lang="nl-BE" sz="1500" spc="-25" dirty="0">
                <a:latin typeface="Arial"/>
                <a:cs typeface="Arial"/>
              </a:rPr>
              <a:t>s </a:t>
            </a:r>
            <a:r>
              <a:rPr sz="1500" dirty="0" err="1">
                <a:latin typeface="Arial"/>
                <a:cs typeface="Arial"/>
              </a:rPr>
              <a:t>vergeleken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productie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uitsluitend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via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conventionele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technieken.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1934" y="4669852"/>
            <a:ext cx="12875260" cy="348615"/>
            <a:chOff x="671934" y="4669852"/>
            <a:chExt cx="12875260" cy="348615"/>
          </a:xfrm>
        </p:grpSpPr>
        <p:sp>
          <p:nvSpPr>
            <p:cNvPr id="7" name="object 7"/>
            <p:cNvSpPr/>
            <p:nvPr/>
          </p:nvSpPr>
          <p:spPr>
            <a:xfrm>
              <a:off x="676697" y="4674615"/>
              <a:ext cx="12865735" cy="339090"/>
            </a:xfrm>
            <a:custGeom>
              <a:avLst/>
              <a:gdLst/>
              <a:ahLst/>
              <a:cxnLst/>
              <a:rect l="l" t="t" r="r" b="b"/>
              <a:pathLst>
                <a:path w="12865735" h="339089">
                  <a:moveTo>
                    <a:pt x="12809057" y="0"/>
                  </a:moveTo>
                  <a:lnTo>
                    <a:pt x="56421" y="0"/>
                  </a:lnTo>
                  <a:lnTo>
                    <a:pt x="34471" y="4437"/>
                  </a:lnTo>
                  <a:lnTo>
                    <a:pt x="16535" y="16535"/>
                  </a:lnTo>
                  <a:lnTo>
                    <a:pt x="4437" y="34471"/>
                  </a:lnTo>
                  <a:lnTo>
                    <a:pt x="0" y="56421"/>
                  </a:lnTo>
                  <a:lnTo>
                    <a:pt x="0" y="338527"/>
                  </a:lnTo>
                  <a:lnTo>
                    <a:pt x="12865478" y="338527"/>
                  </a:lnTo>
                  <a:lnTo>
                    <a:pt x="12865478" y="56421"/>
                  </a:lnTo>
                  <a:lnTo>
                    <a:pt x="12861041" y="34471"/>
                  </a:lnTo>
                  <a:lnTo>
                    <a:pt x="12848943" y="16535"/>
                  </a:lnTo>
                  <a:lnTo>
                    <a:pt x="12831007" y="4437"/>
                  </a:lnTo>
                  <a:lnTo>
                    <a:pt x="12809057" y="0"/>
                  </a:lnTo>
                  <a:close/>
                </a:path>
              </a:pathLst>
            </a:custGeom>
            <a:solidFill>
              <a:srgbClr val="00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6697" y="4674615"/>
              <a:ext cx="12865735" cy="339090"/>
            </a:xfrm>
            <a:custGeom>
              <a:avLst/>
              <a:gdLst/>
              <a:ahLst/>
              <a:cxnLst/>
              <a:rect l="l" t="t" r="r" b="b"/>
              <a:pathLst>
                <a:path w="12865735" h="339089">
                  <a:moveTo>
                    <a:pt x="56421" y="0"/>
                  </a:moveTo>
                  <a:lnTo>
                    <a:pt x="12809057" y="0"/>
                  </a:lnTo>
                  <a:lnTo>
                    <a:pt x="12831007" y="4437"/>
                  </a:lnTo>
                  <a:lnTo>
                    <a:pt x="12848943" y="16535"/>
                  </a:lnTo>
                  <a:lnTo>
                    <a:pt x="12861041" y="34471"/>
                  </a:lnTo>
                  <a:lnTo>
                    <a:pt x="12865478" y="56421"/>
                  </a:lnTo>
                  <a:lnTo>
                    <a:pt x="12865478" y="338527"/>
                  </a:lnTo>
                  <a:lnTo>
                    <a:pt x="0" y="338527"/>
                  </a:lnTo>
                  <a:lnTo>
                    <a:pt x="0" y="56421"/>
                  </a:lnTo>
                  <a:lnTo>
                    <a:pt x="4437" y="34471"/>
                  </a:lnTo>
                  <a:lnTo>
                    <a:pt x="16535" y="16535"/>
                  </a:lnTo>
                  <a:lnTo>
                    <a:pt x="34471" y="4437"/>
                  </a:lnTo>
                  <a:lnTo>
                    <a:pt x="56421" y="0"/>
                  </a:lnTo>
                  <a:close/>
                </a:path>
              </a:pathLst>
            </a:custGeom>
            <a:ln w="8946">
              <a:solidFill>
                <a:srgbClr val="00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082824" y="4719111"/>
            <a:ext cx="205486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PROBLEEMSTELLING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6697" y="16279024"/>
            <a:ext cx="5960745" cy="1285608"/>
          </a:xfrm>
          <a:prstGeom prst="rect">
            <a:avLst/>
          </a:prstGeom>
          <a:ln w="8946">
            <a:solidFill>
              <a:srgbClr val="F96331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168275" marR="160655" algn="just">
              <a:lnSpc>
                <a:spcPct val="100000"/>
              </a:lnSpc>
              <a:spcBef>
                <a:spcPts val="1025"/>
              </a:spcBef>
            </a:pPr>
            <a:r>
              <a:rPr sz="1500" dirty="0">
                <a:latin typeface="Arial"/>
                <a:cs typeface="Arial"/>
              </a:rPr>
              <a:t>Procesparameters</a:t>
            </a:r>
            <a:r>
              <a:rPr sz="1500" spc="114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voor</a:t>
            </a:r>
            <a:r>
              <a:rPr sz="1500" spc="114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WAAM</a:t>
            </a:r>
            <a:r>
              <a:rPr sz="1500" spc="114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van</a:t>
            </a:r>
            <a:r>
              <a:rPr sz="1500" spc="120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aluminium</a:t>
            </a:r>
            <a:r>
              <a:rPr sz="1500" spc="114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zijn</a:t>
            </a:r>
            <a:r>
              <a:rPr sz="1500" spc="114" dirty="0">
                <a:latin typeface="Arial"/>
                <a:cs typeface="Arial"/>
              </a:rPr>
              <a:t>  </a:t>
            </a:r>
            <a:r>
              <a:rPr sz="1500" spc="-10" dirty="0">
                <a:latin typeface="Arial"/>
                <a:cs typeface="Arial"/>
              </a:rPr>
              <a:t>moeilijker </a:t>
            </a:r>
            <a:r>
              <a:rPr sz="1500" dirty="0">
                <a:latin typeface="Arial"/>
                <a:cs typeface="Arial"/>
              </a:rPr>
              <a:t>onder</a:t>
            </a:r>
            <a:r>
              <a:rPr sz="1500" spc="1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1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knie</a:t>
            </a:r>
            <a:r>
              <a:rPr sz="1500" spc="2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</a:t>
            </a:r>
            <a:r>
              <a:rPr sz="1500" spc="1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krijgen</a:t>
            </a:r>
            <a:r>
              <a:rPr sz="1500" spc="20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dan</a:t>
            </a:r>
            <a:r>
              <a:rPr sz="1500" spc="1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staal</a:t>
            </a:r>
            <a:r>
              <a:rPr sz="1500" spc="1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vanwege</a:t>
            </a:r>
            <a:r>
              <a:rPr sz="1500" spc="2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1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hoge</a:t>
            </a:r>
            <a:r>
              <a:rPr sz="1500" spc="204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thermische </a:t>
            </a:r>
            <a:r>
              <a:rPr sz="1500" dirty="0">
                <a:latin typeface="Arial"/>
                <a:cs typeface="Arial"/>
              </a:rPr>
              <a:t>geleiding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aluminium.</a:t>
            </a:r>
            <a:endParaRPr sz="1500">
              <a:latin typeface="Arial"/>
              <a:cs typeface="Arial"/>
            </a:endParaRPr>
          </a:p>
          <a:p>
            <a:pPr marL="168275" marR="160655" algn="just">
              <a:lnSpc>
                <a:spcPct val="100000"/>
              </a:lnSpc>
              <a:spcBef>
                <a:spcPts val="10"/>
              </a:spcBef>
            </a:pPr>
            <a:r>
              <a:rPr sz="1500" dirty="0">
                <a:latin typeface="Arial"/>
                <a:cs typeface="Arial"/>
              </a:rPr>
              <a:t>Goede</a:t>
            </a:r>
            <a:r>
              <a:rPr sz="1500" spc="40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inbranding</a:t>
            </a:r>
            <a:r>
              <a:rPr sz="1500" spc="50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45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het</a:t>
            </a:r>
            <a:r>
              <a:rPr sz="1500" spc="50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substraat</a:t>
            </a:r>
            <a:r>
              <a:rPr sz="1500" spc="50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en</a:t>
            </a:r>
            <a:r>
              <a:rPr sz="1500" spc="45" dirty="0">
                <a:latin typeface="Arial"/>
                <a:cs typeface="Arial"/>
              </a:rPr>
              <a:t>  </a:t>
            </a:r>
            <a:r>
              <a:rPr sz="1500" spc="-10" dirty="0">
                <a:latin typeface="Arial"/>
                <a:cs typeface="Arial"/>
              </a:rPr>
              <a:t>laag-op-</a:t>
            </a:r>
            <a:r>
              <a:rPr sz="1500" dirty="0">
                <a:latin typeface="Arial"/>
                <a:cs typeface="Arial"/>
              </a:rPr>
              <a:t>laag</a:t>
            </a:r>
            <a:r>
              <a:rPr sz="1500" spc="45" dirty="0">
                <a:latin typeface="Arial"/>
                <a:cs typeface="Arial"/>
              </a:rPr>
              <a:t>  </a:t>
            </a:r>
            <a:r>
              <a:rPr sz="1500" dirty="0">
                <a:latin typeface="Arial"/>
                <a:cs typeface="Arial"/>
              </a:rPr>
              <a:t>waren</a:t>
            </a:r>
            <a:r>
              <a:rPr sz="1500" spc="45" dirty="0">
                <a:latin typeface="Arial"/>
                <a:cs typeface="Arial"/>
              </a:rPr>
              <a:t>  </a:t>
            </a:r>
            <a:r>
              <a:rPr sz="1500" spc="-25" dirty="0">
                <a:latin typeface="Arial"/>
                <a:cs typeface="Arial"/>
              </a:rPr>
              <a:t>de </a:t>
            </a:r>
            <a:r>
              <a:rPr sz="1500" dirty="0">
                <a:latin typeface="Arial"/>
                <a:cs typeface="Arial"/>
              </a:rPr>
              <a:t>grootste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obstakels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bij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parameterbepaling.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224" y="15936024"/>
            <a:ext cx="5972810" cy="347980"/>
            <a:chOff x="672224" y="15936024"/>
            <a:chExt cx="5972810" cy="347980"/>
          </a:xfrm>
        </p:grpSpPr>
        <p:sp>
          <p:nvSpPr>
            <p:cNvPr id="12" name="object 12"/>
            <p:cNvSpPr/>
            <p:nvPr/>
          </p:nvSpPr>
          <p:spPr>
            <a:xfrm>
              <a:off x="676697" y="15940497"/>
              <a:ext cx="5963285" cy="339090"/>
            </a:xfrm>
            <a:custGeom>
              <a:avLst/>
              <a:gdLst/>
              <a:ahLst/>
              <a:cxnLst/>
              <a:rect l="l" t="t" r="r" b="b"/>
              <a:pathLst>
                <a:path w="5963284" h="339090">
                  <a:moveTo>
                    <a:pt x="5906816" y="0"/>
                  </a:moveTo>
                  <a:lnTo>
                    <a:pt x="56421" y="0"/>
                  </a:lnTo>
                  <a:lnTo>
                    <a:pt x="34471" y="4437"/>
                  </a:lnTo>
                  <a:lnTo>
                    <a:pt x="16535" y="16535"/>
                  </a:lnTo>
                  <a:lnTo>
                    <a:pt x="4437" y="34471"/>
                  </a:lnTo>
                  <a:lnTo>
                    <a:pt x="0" y="56421"/>
                  </a:lnTo>
                  <a:lnTo>
                    <a:pt x="0" y="338527"/>
                  </a:lnTo>
                  <a:lnTo>
                    <a:pt x="5963238" y="338527"/>
                  </a:lnTo>
                  <a:lnTo>
                    <a:pt x="5963238" y="56421"/>
                  </a:lnTo>
                  <a:lnTo>
                    <a:pt x="5958800" y="34471"/>
                  </a:lnTo>
                  <a:lnTo>
                    <a:pt x="5946702" y="16535"/>
                  </a:lnTo>
                  <a:lnTo>
                    <a:pt x="5928766" y="4437"/>
                  </a:lnTo>
                  <a:lnTo>
                    <a:pt x="5906816" y="0"/>
                  </a:lnTo>
                  <a:close/>
                </a:path>
              </a:pathLst>
            </a:custGeom>
            <a:solidFill>
              <a:srgbClr val="F963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697" y="15940497"/>
              <a:ext cx="5963285" cy="339090"/>
            </a:xfrm>
            <a:custGeom>
              <a:avLst/>
              <a:gdLst/>
              <a:ahLst/>
              <a:cxnLst/>
              <a:rect l="l" t="t" r="r" b="b"/>
              <a:pathLst>
                <a:path w="5963284" h="339090">
                  <a:moveTo>
                    <a:pt x="56421" y="0"/>
                  </a:moveTo>
                  <a:lnTo>
                    <a:pt x="5906816" y="0"/>
                  </a:lnTo>
                  <a:lnTo>
                    <a:pt x="5928766" y="4437"/>
                  </a:lnTo>
                  <a:lnTo>
                    <a:pt x="5946702" y="16535"/>
                  </a:lnTo>
                  <a:lnTo>
                    <a:pt x="5958800" y="34471"/>
                  </a:lnTo>
                  <a:lnTo>
                    <a:pt x="5963238" y="56421"/>
                  </a:lnTo>
                  <a:lnTo>
                    <a:pt x="5963238" y="338527"/>
                  </a:lnTo>
                  <a:lnTo>
                    <a:pt x="0" y="338527"/>
                  </a:lnTo>
                  <a:lnTo>
                    <a:pt x="0" y="56421"/>
                  </a:lnTo>
                  <a:lnTo>
                    <a:pt x="4437" y="34471"/>
                  </a:lnTo>
                  <a:lnTo>
                    <a:pt x="16535" y="16535"/>
                  </a:lnTo>
                  <a:lnTo>
                    <a:pt x="34471" y="4437"/>
                  </a:lnTo>
                  <a:lnTo>
                    <a:pt x="56421" y="0"/>
                  </a:lnTo>
                  <a:close/>
                </a:path>
              </a:pathLst>
            </a:custGeom>
            <a:ln w="8946">
              <a:solidFill>
                <a:srgbClr val="F963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9006" y="15985292"/>
            <a:ext cx="202120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BESLUIT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PRODUCTIE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82824" y="642288"/>
            <a:ext cx="7474805" cy="92773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 indent="2860675" algn="r">
              <a:lnSpc>
                <a:spcPct val="101099"/>
              </a:lnSpc>
              <a:spcBef>
                <a:spcPts val="95"/>
              </a:spcBef>
            </a:pPr>
            <a:r>
              <a:rPr sz="1950" b="1" dirty="0" err="1">
                <a:solidFill>
                  <a:srgbClr val="FFFFFF"/>
                </a:solidFill>
                <a:latin typeface="Arial"/>
                <a:cs typeface="Arial"/>
              </a:rPr>
              <a:t>Bedrijfsp</a:t>
            </a:r>
            <a:r>
              <a:rPr lang="nl-BE" sz="195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950" b="1" dirty="0" err="1">
                <a:solidFill>
                  <a:srgbClr val="FFFFFF"/>
                </a:solidFill>
                <a:latin typeface="Arial"/>
                <a:cs typeface="Arial"/>
              </a:rPr>
              <a:t>omotor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95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Wouter</a:t>
            </a:r>
            <a:r>
              <a:rPr sz="19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 err="1">
                <a:solidFill>
                  <a:srgbClr val="FFFFFF"/>
                </a:solidFill>
                <a:latin typeface="Arial"/>
                <a:cs typeface="Arial"/>
              </a:rPr>
              <a:t>Nuyts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nl-NL" sz="1950" b="1" dirty="0">
                <a:solidFill>
                  <a:srgbClr val="FFFFFF"/>
                </a:solidFill>
                <a:latin typeface="Arial"/>
                <a:cs typeface="Arial"/>
              </a:rPr>
              <a:t>Hogeschoolpromotor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9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Jeroen</a:t>
            </a:r>
            <a:r>
              <a:rPr sz="19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 err="1">
                <a:solidFill>
                  <a:srgbClr val="FFFFFF"/>
                </a:solidFill>
                <a:latin typeface="Arial"/>
                <a:cs typeface="Arial"/>
              </a:rPr>
              <a:t>Mingneau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r>
              <a:rPr sz="195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Marijn</a:t>
            </a:r>
            <a:r>
              <a:rPr sz="195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 err="1">
                <a:solidFill>
                  <a:srgbClr val="FFFFFF"/>
                </a:solidFill>
                <a:latin typeface="Arial"/>
                <a:cs typeface="Arial"/>
              </a:rPr>
              <a:t>Casteels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Student:</a:t>
            </a:r>
            <a:r>
              <a:rPr sz="19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Jelle</a:t>
            </a:r>
            <a:r>
              <a:rPr sz="19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Ghekiere;</a:t>
            </a:r>
            <a:r>
              <a:rPr sz="19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Nils</a:t>
            </a:r>
            <a:r>
              <a:rPr sz="19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FFFFFF"/>
                </a:solidFill>
                <a:latin typeface="Arial"/>
                <a:cs typeface="Arial"/>
              </a:rPr>
              <a:t>Van</a:t>
            </a:r>
            <a:r>
              <a:rPr sz="19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"/>
                <a:cs typeface="Arial"/>
              </a:rPr>
              <a:t>Elewijck</a:t>
            </a:r>
            <a:endParaRPr sz="1950" dirty="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339" y="18168123"/>
            <a:ext cx="1183057" cy="118305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127252" y="19001956"/>
            <a:ext cx="6436360" cy="686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Thomas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lang="nl-BE" sz="1400" spc="-20" dirty="0">
                <a:solidFill>
                  <a:schemeClr val="bg1"/>
                </a:solidFill>
                <a:latin typeface="Arial"/>
                <a:cs typeface="Arial"/>
              </a:rPr>
              <a:t> |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De Nayer</a:t>
            </a:r>
            <a:endParaRPr lang="nl-BE" sz="14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Jan Pieter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Nayerlaan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5,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2860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Sint-Katelijne-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Waver,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 err="1">
                <a:solidFill>
                  <a:srgbClr val="FFFFFF"/>
                </a:solidFill>
                <a:latin typeface="Arial"/>
                <a:cs typeface="Arial"/>
              </a:rPr>
              <a:t>België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nl-BE" sz="14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Tel.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(0)15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69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www.thomasmore.be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8356" y="5996160"/>
            <a:ext cx="12758420" cy="9436735"/>
            <a:chOff x="668356" y="5996160"/>
            <a:chExt cx="12758420" cy="943673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7955" y="10998209"/>
              <a:ext cx="4936204" cy="15881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4047" y="5996160"/>
              <a:ext cx="5972184" cy="23543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4477" y="12625002"/>
              <a:ext cx="6087412" cy="28073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3118" y="11053676"/>
              <a:ext cx="3188335" cy="339090"/>
            </a:xfrm>
            <a:custGeom>
              <a:avLst/>
              <a:gdLst/>
              <a:ahLst/>
              <a:cxnLst/>
              <a:rect l="l" t="t" r="r" b="b"/>
              <a:pathLst>
                <a:path w="3188335" h="339090">
                  <a:moveTo>
                    <a:pt x="3131320" y="0"/>
                  </a:moveTo>
                  <a:lnTo>
                    <a:pt x="56421" y="0"/>
                  </a:lnTo>
                  <a:lnTo>
                    <a:pt x="34471" y="4437"/>
                  </a:lnTo>
                  <a:lnTo>
                    <a:pt x="16535" y="16535"/>
                  </a:lnTo>
                  <a:lnTo>
                    <a:pt x="4437" y="34471"/>
                  </a:lnTo>
                  <a:lnTo>
                    <a:pt x="0" y="56421"/>
                  </a:lnTo>
                  <a:lnTo>
                    <a:pt x="0" y="338527"/>
                  </a:lnTo>
                  <a:lnTo>
                    <a:pt x="3187741" y="338527"/>
                  </a:lnTo>
                  <a:lnTo>
                    <a:pt x="3187741" y="56421"/>
                  </a:lnTo>
                  <a:lnTo>
                    <a:pt x="3183303" y="34471"/>
                  </a:lnTo>
                  <a:lnTo>
                    <a:pt x="3171205" y="16535"/>
                  </a:lnTo>
                  <a:lnTo>
                    <a:pt x="3153270" y="4437"/>
                  </a:lnTo>
                  <a:lnTo>
                    <a:pt x="3131320" y="0"/>
                  </a:lnTo>
                  <a:close/>
                </a:path>
              </a:pathLst>
            </a:custGeom>
            <a:solidFill>
              <a:srgbClr val="00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3118" y="11053676"/>
              <a:ext cx="3188335" cy="339090"/>
            </a:xfrm>
            <a:custGeom>
              <a:avLst/>
              <a:gdLst/>
              <a:ahLst/>
              <a:cxnLst/>
              <a:rect l="l" t="t" r="r" b="b"/>
              <a:pathLst>
                <a:path w="3188335" h="339090">
                  <a:moveTo>
                    <a:pt x="56421" y="0"/>
                  </a:moveTo>
                  <a:lnTo>
                    <a:pt x="3131320" y="0"/>
                  </a:lnTo>
                  <a:lnTo>
                    <a:pt x="3153270" y="4437"/>
                  </a:lnTo>
                  <a:lnTo>
                    <a:pt x="3171205" y="16535"/>
                  </a:lnTo>
                  <a:lnTo>
                    <a:pt x="3183303" y="34471"/>
                  </a:lnTo>
                  <a:lnTo>
                    <a:pt x="3187741" y="56421"/>
                  </a:lnTo>
                  <a:lnTo>
                    <a:pt x="3187741" y="338527"/>
                  </a:lnTo>
                  <a:lnTo>
                    <a:pt x="0" y="338527"/>
                  </a:lnTo>
                  <a:lnTo>
                    <a:pt x="0" y="56421"/>
                  </a:lnTo>
                  <a:lnTo>
                    <a:pt x="4437" y="34471"/>
                  </a:lnTo>
                  <a:lnTo>
                    <a:pt x="16535" y="16535"/>
                  </a:lnTo>
                  <a:lnTo>
                    <a:pt x="34471" y="4437"/>
                  </a:lnTo>
                  <a:lnTo>
                    <a:pt x="56421" y="0"/>
                  </a:lnTo>
                  <a:close/>
                </a:path>
              </a:pathLst>
            </a:custGeom>
            <a:ln w="8946">
              <a:solidFill>
                <a:srgbClr val="00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58268" y="11098292"/>
            <a:ext cx="141668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NABEWERKEN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6697" y="11390772"/>
            <a:ext cx="3184525" cy="4436110"/>
          </a:xfrm>
          <a:prstGeom prst="rect">
            <a:avLst/>
          </a:prstGeom>
          <a:ln w="8946">
            <a:solidFill>
              <a:srgbClr val="00283B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70840" marR="676275" indent="-202565">
              <a:lnSpc>
                <a:spcPct val="100000"/>
              </a:lnSpc>
              <a:spcBef>
                <a:spcPts val="1025"/>
              </a:spcBef>
              <a:buChar char="•"/>
              <a:tabLst>
                <a:tab pos="370840" algn="l"/>
                <a:tab pos="371475" algn="l"/>
              </a:tabLst>
            </a:pPr>
            <a:r>
              <a:rPr sz="1500" spc="-10" dirty="0">
                <a:latin typeface="Arial"/>
                <a:cs typeface="Arial"/>
              </a:rPr>
              <a:t>3-</a:t>
            </a:r>
            <a:r>
              <a:rPr sz="1500" dirty="0">
                <a:latin typeface="Arial"/>
                <a:cs typeface="Arial"/>
              </a:rPr>
              <a:t>assige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opspanning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met </a:t>
            </a:r>
            <a:r>
              <a:rPr sz="1500" spc="-10" dirty="0">
                <a:latin typeface="Arial"/>
                <a:cs typeface="Arial"/>
              </a:rPr>
              <a:t>paspennen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50">
              <a:latin typeface="Arial"/>
              <a:cs typeface="Arial"/>
            </a:endParaRPr>
          </a:p>
          <a:p>
            <a:pPr marL="370840" marR="1018540" indent="-202565">
              <a:lnSpc>
                <a:spcPct val="100000"/>
              </a:lnSpc>
              <a:buChar char="•"/>
              <a:tabLst>
                <a:tab pos="370840" algn="l"/>
                <a:tab pos="371475" algn="l"/>
              </a:tabLst>
            </a:pPr>
            <a:r>
              <a:rPr sz="1500" dirty="0">
                <a:latin typeface="Arial"/>
                <a:cs typeface="Arial"/>
              </a:rPr>
              <a:t>Shims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+ 3D</a:t>
            </a:r>
            <a:r>
              <a:rPr sz="1500" spc="-10" dirty="0">
                <a:latin typeface="Arial"/>
                <a:cs typeface="Arial"/>
              </a:rPr>
              <a:t> geprintte ondersteuning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550">
              <a:latin typeface="Arial"/>
              <a:cs typeface="Arial"/>
            </a:endParaRPr>
          </a:p>
          <a:p>
            <a:pPr marL="370840" marR="201930" indent="-202565">
              <a:lnSpc>
                <a:spcPct val="100000"/>
              </a:lnSpc>
              <a:buChar char="•"/>
              <a:tabLst>
                <a:tab pos="370840" algn="l"/>
                <a:tab pos="371475" algn="l"/>
              </a:tabLst>
            </a:pPr>
            <a:r>
              <a:rPr sz="1500" spc="-10" dirty="0">
                <a:latin typeface="Arial"/>
                <a:cs typeface="Arial"/>
              </a:rPr>
              <a:t>Vastgelijmd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glue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tegen </a:t>
            </a:r>
            <a:r>
              <a:rPr sz="1500" spc="-10" dirty="0">
                <a:latin typeface="Arial"/>
                <a:cs typeface="Arial"/>
              </a:rPr>
              <a:t>trillingen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50">
              <a:latin typeface="Arial"/>
              <a:cs typeface="Arial"/>
            </a:endParaRPr>
          </a:p>
          <a:p>
            <a:pPr marL="370840" indent="-203200">
              <a:lnSpc>
                <a:spcPct val="100000"/>
              </a:lnSpc>
              <a:buChar char="•"/>
              <a:tabLst>
                <a:tab pos="370840" algn="l"/>
                <a:tab pos="371475" algn="l"/>
              </a:tabLst>
            </a:pPr>
            <a:r>
              <a:rPr sz="1500" dirty="0">
                <a:latin typeface="Arial"/>
                <a:cs typeface="Arial"/>
              </a:rPr>
              <a:t>Ruwen: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vingerfrees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Ø20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50">
              <a:latin typeface="Arial"/>
              <a:cs typeface="Arial"/>
            </a:endParaRPr>
          </a:p>
          <a:p>
            <a:pPr marL="370840" marR="357505" indent="-202565">
              <a:lnSpc>
                <a:spcPct val="100000"/>
              </a:lnSpc>
              <a:buChar char="•"/>
              <a:tabLst>
                <a:tab pos="370840" algn="l"/>
                <a:tab pos="371475" algn="l"/>
              </a:tabLst>
            </a:pPr>
            <a:r>
              <a:rPr sz="1500" dirty="0">
                <a:latin typeface="Arial"/>
                <a:cs typeface="Arial"/>
              </a:rPr>
              <a:t>Finisseren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bolfrees</a:t>
            </a:r>
            <a:r>
              <a:rPr sz="1500" spc="-20" dirty="0">
                <a:latin typeface="Arial"/>
                <a:cs typeface="Arial"/>
              </a:rPr>
              <a:t> Ø10, </a:t>
            </a:r>
            <a:r>
              <a:rPr sz="1500" spc="-10" dirty="0">
                <a:latin typeface="Arial"/>
                <a:cs typeface="Arial"/>
              </a:rPr>
              <a:t>5-</a:t>
            </a:r>
            <a:r>
              <a:rPr sz="1500" dirty="0">
                <a:latin typeface="Arial"/>
                <a:cs typeface="Arial"/>
              </a:rPr>
              <a:t>assig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simultaan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356829" y="11048913"/>
            <a:ext cx="3194685" cy="348615"/>
            <a:chOff x="10356829" y="11048913"/>
            <a:chExt cx="3194685" cy="348615"/>
          </a:xfrm>
        </p:grpSpPr>
        <p:sp>
          <p:nvSpPr>
            <p:cNvPr id="27" name="object 27"/>
            <p:cNvSpPr/>
            <p:nvPr/>
          </p:nvSpPr>
          <p:spPr>
            <a:xfrm>
              <a:off x="10361591" y="11053676"/>
              <a:ext cx="3185160" cy="339090"/>
            </a:xfrm>
            <a:custGeom>
              <a:avLst/>
              <a:gdLst/>
              <a:ahLst/>
              <a:cxnLst/>
              <a:rect l="l" t="t" r="r" b="b"/>
              <a:pathLst>
                <a:path w="3185159" h="339090">
                  <a:moveTo>
                    <a:pt x="3128457" y="0"/>
                  </a:moveTo>
                  <a:lnTo>
                    <a:pt x="56421" y="0"/>
                  </a:lnTo>
                  <a:lnTo>
                    <a:pt x="34471" y="4437"/>
                  </a:lnTo>
                  <a:lnTo>
                    <a:pt x="16535" y="16535"/>
                  </a:lnTo>
                  <a:lnTo>
                    <a:pt x="4437" y="34471"/>
                  </a:lnTo>
                  <a:lnTo>
                    <a:pt x="0" y="56421"/>
                  </a:lnTo>
                  <a:lnTo>
                    <a:pt x="0" y="338527"/>
                  </a:lnTo>
                  <a:lnTo>
                    <a:pt x="3184878" y="338527"/>
                  </a:lnTo>
                  <a:lnTo>
                    <a:pt x="3184878" y="56421"/>
                  </a:lnTo>
                  <a:lnTo>
                    <a:pt x="3180441" y="34471"/>
                  </a:lnTo>
                  <a:lnTo>
                    <a:pt x="3168343" y="16535"/>
                  </a:lnTo>
                  <a:lnTo>
                    <a:pt x="3150407" y="4437"/>
                  </a:lnTo>
                  <a:lnTo>
                    <a:pt x="3128457" y="0"/>
                  </a:lnTo>
                  <a:close/>
                </a:path>
              </a:pathLst>
            </a:custGeom>
            <a:solidFill>
              <a:srgbClr val="00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61591" y="11053676"/>
              <a:ext cx="3185160" cy="339090"/>
            </a:xfrm>
            <a:custGeom>
              <a:avLst/>
              <a:gdLst/>
              <a:ahLst/>
              <a:cxnLst/>
              <a:rect l="l" t="t" r="r" b="b"/>
              <a:pathLst>
                <a:path w="3185159" h="339090">
                  <a:moveTo>
                    <a:pt x="56421" y="0"/>
                  </a:moveTo>
                  <a:lnTo>
                    <a:pt x="3128457" y="0"/>
                  </a:lnTo>
                  <a:lnTo>
                    <a:pt x="3150407" y="4437"/>
                  </a:lnTo>
                  <a:lnTo>
                    <a:pt x="3168343" y="16535"/>
                  </a:lnTo>
                  <a:lnTo>
                    <a:pt x="3180441" y="34471"/>
                  </a:lnTo>
                  <a:lnTo>
                    <a:pt x="3184878" y="56421"/>
                  </a:lnTo>
                  <a:lnTo>
                    <a:pt x="3184878" y="338527"/>
                  </a:lnTo>
                  <a:lnTo>
                    <a:pt x="0" y="338527"/>
                  </a:lnTo>
                  <a:lnTo>
                    <a:pt x="0" y="56421"/>
                  </a:lnTo>
                  <a:lnTo>
                    <a:pt x="4437" y="34471"/>
                  </a:lnTo>
                  <a:lnTo>
                    <a:pt x="16535" y="16535"/>
                  </a:lnTo>
                  <a:lnTo>
                    <a:pt x="34471" y="4437"/>
                  </a:lnTo>
                  <a:lnTo>
                    <a:pt x="56421" y="0"/>
                  </a:lnTo>
                  <a:close/>
                </a:path>
              </a:pathLst>
            </a:custGeom>
            <a:ln w="8946">
              <a:solidFill>
                <a:srgbClr val="00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689088" y="11098292"/>
            <a:ext cx="253111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KOSTEN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BATENANALYSE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61591" y="11392203"/>
            <a:ext cx="3180715" cy="4436110"/>
          </a:xfrm>
          <a:prstGeom prst="rect">
            <a:avLst/>
          </a:prstGeom>
          <a:ln w="8946">
            <a:solidFill>
              <a:srgbClr val="00283B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371475" marR="633730" indent="-202565">
              <a:lnSpc>
                <a:spcPct val="100000"/>
              </a:lnSpc>
              <a:spcBef>
                <a:spcPts val="1019"/>
              </a:spcBef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Kosten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WAAM-</a:t>
            </a:r>
            <a:r>
              <a:rPr sz="1500" dirty="0">
                <a:latin typeface="Arial"/>
                <a:cs typeface="Arial"/>
              </a:rPr>
              <a:t>proces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vs. </a:t>
            </a:r>
            <a:r>
              <a:rPr sz="1500" dirty="0">
                <a:latin typeface="Arial"/>
                <a:cs typeface="Arial"/>
              </a:rPr>
              <a:t>Kosten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conventionele productietechnieken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1550">
              <a:latin typeface="Arial"/>
              <a:cs typeface="Arial"/>
            </a:endParaRPr>
          </a:p>
          <a:p>
            <a:pPr marL="371475" marR="521334" indent="-202565">
              <a:lnSpc>
                <a:spcPct val="100000"/>
              </a:lnSpc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Rekening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houdend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met </a:t>
            </a:r>
            <a:r>
              <a:rPr sz="1500" dirty="0">
                <a:latin typeface="Arial"/>
                <a:cs typeface="Arial"/>
              </a:rPr>
              <a:t>factoren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zoals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huidige </a:t>
            </a:r>
            <a:r>
              <a:rPr sz="1500" dirty="0">
                <a:latin typeface="Arial"/>
                <a:cs typeface="Arial"/>
              </a:rPr>
              <a:t>opstelling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het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verbruikte materiaal.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550">
              <a:latin typeface="Arial"/>
              <a:cs typeface="Arial"/>
            </a:endParaRPr>
          </a:p>
          <a:p>
            <a:pPr marL="371475" marR="257175" indent="-202565">
              <a:lnSpc>
                <a:spcPct val="100000"/>
              </a:lnSpc>
              <a:spcBef>
                <a:spcPts val="5"/>
              </a:spcBef>
              <a:buChar char="•"/>
              <a:tabLst>
                <a:tab pos="371475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Calculator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ontwikkeld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vanaf </a:t>
            </a:r>
            <a:r>
              <a:rPr sz="1500" dirty="0">
                <a:latin typeface="Arial"/>
                <a:cs typeface="Arial"/>
              </a:rPr>
              <a:t>wanneer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WAAM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een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meer </a:t>
            </a:r>
            <a:r>
              <a:rPr sz="1500" dirty="0">
                <a:latin typeface="Arial"/>
                <a:cs typeface="Arial"/>
              </a:rPr>
              <a:t>economisch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alternatief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kan </a:t>
            </a:r>
            <a:r>
              <a:rPr sz="1500" dirty="0">
                <a:latin typeface="Arial"/>
                <a:cs typeface="Arial"/>
              </a:rPr>
              <a:t>zijn.</a:t>
            </a:r>
            <a:r>
              <a:rPr sz="1500" spc="-10" dirty="0">
                <a:latin typeface="Arial"/>
                <a:cs typeface="Arial"/>
              </a:rPr>
              <a:t> Vertrekkende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 </a:t>
            </a:r>
            <a:r>
              <a:rPr sz="1500" spc="-10" dirty="0">
                <a:latin typeface="Arial"/>
                <a:cs typeface="Arial"/>
              </a:rPr>
              <a:t>Buy-</a:t>
            </a:r>
            <a:r>
              <a:rPr sz="1500" spc="-25" dirty="0">
                <a:latin typeface="Arial"/>
                <a:cs typeface="Arial"/>
              </a:rPr>
              <a:t>to- </a:t>
            </a:r>
            <a:r>
              <a:rPr sz="1500" dirty="0">
                <a:latin typeface="Arial"/>
                <a:cs typeface="Arial"/>
              </a:rPr>
              <a:t>Fly</a:t>
            </a:r>
            <a:r>
              <a:rPr sz="1500" spc="-20" dirty="0">
                <a:latin typeface="Arial"/>
                <a:cs typeface="Arial"/>
              </a:rPr>
              <a:t> ratio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69484" y="8790154"/>
            <a:ext cx="6180455" cy="348615"/>
            <a:chOff x="7369484" y="8790154"/>
            <a:chExt cx="6180455" cy="348615"/>
          </a:xfrm>
        </p:grpSpPr>
        <p:sp>
          <p:nvSpPr>
            <p:cNvPr id="32" name="object 32"/>
            <p:cNvSpPr/>
            <p:nvPr/>
          </p:nvSpPr>
          <p:spPr>
            <a:xfrm>
              <a:off x="7374246" y="8794917"/>
              <a:ext cx="6170930" cy="339090"/>
            </a:xfrm>
            <a:custGeom>
              <a:avLst/>
              <a:gdLst/>
              <a:ahLst/>
              <a:cxnLst/>
              <a:rect l="l" t="t" r="r" b="b"/>
              <a:pathLst>
                <a:path w="6170930" h="339090">
                  <a:moveTo>
                    <a:pt x="6114370" y="0"/>
                  </a:moveTo>
                  <a:lnTo>
                    <a:pt x="56421" y="0"/>
                  </a:lnTo>
                  <a:lnTo>
                    <a:pt x="34471" y="4437"/>
                  </a:lnTo>
                  <a:lnTo>
                    <a:pt x="16535" y="16535"/>
                  </a:lnTo>
                  <a:lnTo>
                    <a:pt x="4437" y="34471"/>
                  </a:lnTo>
                  <a:lnTo>
                    <a:pt x="0" y="56421"/>
                  </a:lnTo>
                  <a:lnTo>
                    <a:pt x="0" y="338527"/>
                  </a:lnTo>
                  <a:lnTo>
                    <a:pt x="6170792" y="338527"/>
                  </a:lnTo>
                  <a:lnTo>
                    <a:pt x="6170792" y="56421"/>
                  </a:lnTo>
                  <a:lnTo>
                    <a:pt x="6166354" y="34471"/>
                  </a:lnTo>
                  <a:lnTo>
                    <a:pt x="6154256" y="16535"/>
                  </a:lnTo>
                  <a:lnTo>
                    <a:pt x="6136320" y="4437"/>
                  </a:lnTo>
                  <a:lnTo>
                    <a:pt x="6114370" y="0"/>
                  </a:lnTo>
                  <a:close/>
                </a:path>
              </a:pathLst>
            </a:custGeom>
            <a:solidFill>
              <a:srgbClr val="00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74246" y="8794917"/>
              <a:ext cx="6170930" cy="339090"/>
            </a:xfrm>
            <a:custGeom>
              <a:avLst/>
              <a:gdLst/>
              <a:ahLst/>
              <a:cxnLst/>
              <a:rect l="l" t="t" r="r" b="b"/>
              <a:pathLst>
                <a:path w="6170930" h="339090">
                  <a:moveTo>
                    <a:pt x="56421" y="0"/>
                  </a:moveTo>
                  <a:lnTo>
                    <a:pt x="6114370" y="0"/>
                  </a:lnTo>
                  <a:lnTo>
                    <a:pt x="6136320" y="4437"/>
                  </a:lnTo>
                  <a:lnTo>
                    <a:pt x="6154256" y="16535"/>
                  </a:lnTo>
                  <a:lnTo>
                    <a:pt x="6166354" y="34471"/>
                  </a:lnTo>
                  <a:lnTo>
                    <a:pt x="6170792" y="56421"/>
                  </a:lnTo>
                  <a:lnTo>
                    <a:pt x="6170792" y="338527"/>
                  </a:lnTo>
                  <a:lnTo>
                    <a:pt x="0" y="338527"/>
                  </a:lnTo>
                  <a:lnTo>
                    <a:pt x="0" y="56421"/>
                  </a:lnTo>
                  <a:lnTo>
                    <a:pt x="4437" y="34471"/>
                  </a:lnTo>
                  <a:lnTo>
                    <a:pt x="16535" y="16535"/>
                  </a:lnTo>
                  <a:lnTo>
                    <a:pt x="34471" y="4437"/>
                  </a:lnTo>
                  <a:lnTo>
                    <a:pt x="56421" y="0"/>
                  </a:lnTo>
                  <a:close/>
                </a:path>
              </a:pathLst>
            </a:custGeom>
            <a:ln w="8946">
              <a:solidFill>
                <a:srgbClr val="00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793728" y="8839413"/>
            <a:ext cx="333184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PARAMETERBEPALING</a:t>
            </a:r>
            <a:r>
              <a:rPr sz="15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ALUMINIUM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372636" y="15947474"/>
            <a:ext cx="6179820" cy="347345"/>
            <a:chOff x="7372636" y="15947474"/>
            <a:chExt cx="6179820" cy="347345"/>
          </a:xfrm>
        </p:grpSpPr>
        <p:sp>
          <p:nvSpPr>
            <p:cNvPr id="36" name="object 36"/>
            <p:cNvSpPr/>
            <p:nvPr/>
          </p:nvSpPr>
          <p:spPr>
            <a:xfrm>
              <a:off x="7377109" y="15951947"/>
              <a:ext cx="6170930" cy="337820"/>
            </a:xfrm>
            <a:custGeom>
              <a:avLst/>
              <a:gdLst/>
              <a:ahLst/>
              <a:cxnLst/>
              <a:rect l="l" t="t" r="r" b="b"/>
              <a:pathLst>
                <a:path w="6170930" h="337819">
                  <a:moveTo>
                    <a:pt x="6114490" y="0"/>
                  </a:moveTo>
                  <a:lnTo>
                    <a:pt x="56301" y="0"/>
                  </a:lnTo>
                  <a:lnTo>
                    <a:pt x="34395" y="4427"/>
                  </a:lnTo>
                  <a:lnTo>
                    <a:pt x="16498" y="16498"/>
                  </a:lnTo>
                  <a:lnTo>
                    <a:pt x="4427" y="34395"/>
                  </a:lnTo>
                  <a:lnTo>
                    <a:pt x="0" y="56301"/>
                  </a:lnTo>
                  <a:lnTo>
                    <a:pt x="0" y="337811"/>
                  </a:lnTo>
                  <a:lnTo>
                    <a:pt x="6170792" y="337811"/>
                  </a:lnTo>
                  <a:lnTo>
                    <a:pt x="6170792" y="56301"/>
                  </a:lnTo>
                  <a:lnTo>
                    <a:pt x="6166364" y="34395"/>
                  </a:lnTo>
                  <a:lnTo>
                    <a:pt x="6154293" y="16498"/>
                  </a:lnTo>
                  <a:lnTo>
                    <a:pt x="6136396" y="4427"/>
                  </a:lnTo>
                  <a:lnTo>
                    <a:pt x="6114490" y="0"/>
                  </a:lnTo>
                  <a:close/>
                </a:path>
              </a:pathLst>
            </a:custGeom>
            <a:solidFill>
              <a:srgbClr val="F963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77109" y="15951947"/>
              <a:ext cx="6170930" cy="337820"/>
            </a:xfrm>
            <a:custGeom>
              <a:avLst/>
              <a:gdLst/>
              <a:ahLst/>
              <a:cxnLst/>
              <a:rect l="l" t="t" r="r" b="b"/>
              <a:pathLst>
                <a:path w="6170930" h="337819">
                  <a:moveTo>
                    <a:pt x="56301" y="0"/>
                  </a:moveTo>
                  <a:lnTo>
                    <a:pt x="6114490" y="0"/>
                  </a:lnTo>
                  <a:lnTo>
                    <a:pt x="6136396" y="4427"/>
                  </a:lnTo>
                  <a:lnTo>
                    <a:pt x="6154293" y="16498"/>
                  </a:lnTo>
                  <a:lnTo>
                    <a:pt x="6166364" y="34395"/>
                  </a:lnTo>
                  <a:lnTo>
                    <a:pt x="6170792" y="56301"/>
                  </a:lnTo>
                  <a:lnTo>
                    <a:pt x="6170792" y="337811"/>
                  </a:lnTo>
                  <a:lnTo>
                    <a:pt x="0" y="337811"/>
                  </a:lnTo>
                  <a:lnTo>
                    <a:pt x="0" y="56301"/>
                  </a:lnTo>
                  <a:lnTo>
                    <a:pt x="4427" y="34395"/>
                  </a:lnTo>
                  <a:lnTo>
                    <a:pt x="16498" y="16498"/>
                  </a:lnTo>
                  <a:lnTo>
                    <a:pt x="34395" y="4427"/>
                  </a:lnTo>
                  <a:lnTo>
                    <a:pt x="56301" y="0"/>
                  </a:lnTo>
                  <a:close/>
                </a:path>
              </a:pathLst>
            </a:custGeom>
            <a:ln w="8946">
              <a:solidFill>
                <a:srgbClr val="F963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49716" y="15996445"/>
            <a:ext cx="39300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BESLUIT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ECONOMISCHE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HAALBAARHEID</a:t>
            </a:r>
            <a:endParaRPr sz="1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78541" y="16289760"/>
            <a:ext cx="6168390" cy="1661160"/>
          </a:xfrm>
          <a:prstGeom prst="rect">
            <a:avLst/>
          </a:prstGeom>
          <a:ln w="8946">
            <a:solidFill>
              <a:srgbClr val="F96331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168910" marR="160655">
              <a:lnSpc>
                <a:spcPct val="100000"/>
              </a:lnSpc>
              <a:spcBef>
                <a:spcPts val="1025"/>
              </a:spcBef>
            </a:pPr>
            <a:r>
              <a:rPr sz="1500" dirty="0">
                <a:latin typeface="Arial"/>
                <a:cs typeface="Arial"/>
              </a:rPr>
              <a:t>WAAM</a:t>
            </a:r>
            <a:r>
              <a:rPr sz="1500" spc="48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was</a:t>
            </a:r>
            <a:r>
              <a:rPr sz="1500" spc="4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niet</a:t>
            </a:r>
            <a:r>
              <a:rPr sz="1500" spc="4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4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meest</a:t>
            </a:r>
            <a:r>
              <a:rPr sz="1500" spc="4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economische</a:t>
            </a:r>
            <a:r>
              <a:rPr sz="1500" spc="4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manier</a:t>
            </a:r>
            <a:r>
              <a:rPr sz="1500" spc="4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om</a:t>
            </a:r>
            <a:r>
              <a:rPr sz="1500" spc="48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dit</a:t>
            </a:r>
            <a:r>
              <a:rPr sz="1500" spc="4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stuk</a:t>
            </a:r>
            <a:r>
              <a:rPr sz="1500" spc="4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te </a:t>
            </a:r>
            <a:r>
              <a:rPr sz="1500" dirty="0">
                <a:latin typeface="Arial"/>
                <a:cs typeface="Arial"/>
              </a:rPr>
              <a:t>produceren,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deels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vanwege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beperkte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grootte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het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stuk.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Arial"/>
              <a:cs typeface="Arial"/>
            </a:endParaRPr>
          </a:p>
          <a:p>
            <a:pPr marL="168910" marR="30861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Voor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een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stuk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holle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structuren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waar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volcontinu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deponeren </a:t>
            </a:r>
            <a:r>
              <a:rPr sz="1500" dirty="0">
                <a:latin typeface="Arial"/>
                <a:cs typeface="Arial"/>
              </a:rPr>
              <a:t>mogelijk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is,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zou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WAAM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wel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een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economisch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alternatief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kunnen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zijn, </a:t>
            </a:r>
            <a:r>
              <a:rPr sz="1500" dirty="0">
                <a:latin typeface="Arial"/>
                <a:cs typeface="Arial"/>
              </a:rPr>
              <a:t>maar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dit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dient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verder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onderzocht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worden.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6697" y="9124856"/>
            <a:ext cx="6171565" cy="1285608"/>
          </a:xfrm>
          <a:prstGeom prst="rect">
            <a:avLst/>
          </a:prstGeom>
          <a:ln w="8946">
            <a:solidFill>
              <a:srgbClr val="00283B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70840" marR="930275" indent="-201930">
              <a:lnSpc>
                <a:spcPct val="100000"/>
              </a:lnSpc>
              <a:spcBef>
                <a:spcPts val="1025"/>
              </a:spcBef>
              <a:buChar char="•"/>
              <a:tabLst>
                <a:tab pos="370840" algn="l"/>
                <a:tab pos="372110" algn="l"/>
              </a:tabLst>
            </a:pPr>
            <a:r>
              <a:rPr sz="1500" spc="-10" dirty="0" err="1">
                <a:latin typeface="Arial"/>
                <a:cs typeface="Arial"/>
              </a:rPr>
              <a:t>Vertrouwd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lang="nl-BE" sz="1500" spc="-30" dirty="0">
                <a:latin typeface="Arial"/>
                <a:cs typeface="Arial"/>
              </a:rPr>
              <a:t>ge</a:t>
            </a:r>
            <a:r>
              <a:rPr sz="1500" dirty="0" err="1">
                <a:latin typeface="Arial"/>
                <a:cs typeface="Arial"/>
              </a:rPr>
              <a:t>raken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techniek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door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analyse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van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vorige bachelorproeven</a:t>
            </a:r>
            <a:endParaRPr sz="1500" dirty="0">
              <a:latin typeface="Arial"/>
              <a:cs typeface="Arial"/>
            </a:endParaRPr>
          </a:p>
          <a:p>
            <a:pPr marL="370840" indent="-202565">
              <a:lnSpc>
                <a:spcPct val="100000"/>
              </a:lnSpc>
              <a:spcBef>
                <a:spcPts val="5"/>
              </a:spcBef>
              <a:buChar char="•"/>
              <a:tabLst>
                <a:tab pos="370840" algn="l"/>
                <a:tab pos="372110" algn="l"/>
              </a:tabLst>
            </a:pPr>
            <a:r>
              <a:rPr sz="1500" dirty="0">
                <a:latin typeface="Arial"/>
                <a:cs typeface="Arial"/>
              </a:rPr>
              <a:t>Strategie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opstellen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voor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deponeren</a:t>
            </a:r>
            <a:endParaRPr sz="1500" dirty="0">
              <a:latin typeface="Arial"/>
              <a:cs typeface="Arial"/>
            </a:endParaRPr>
          </a:p>
          <a:p>
            <a:pPr marL="574675" lvl="1" indent="-203835">
              <a:lnSpc>
                <a:spcPct val="100000"/>
              </a:lnSpc>
              <a:spcBef>
                <a:spcPts val="5"/>
              </a:spcBef>
              <a:buChar char="–"/>
              <a:tabLst>
                <a:tab pos="575310" algn="l"/>
              </a:tabLst>
            </a:pPr>
            <a:r>
              <a:rPr sz="1500" spc="-10" dirty="0">
                <a:latin typeface="Arial"/>
                <a:cs typeface="Arial"/>
              </a:rPr>
              <a:t>Volcontinu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proces</a:t>
            </a:r>
            <a:endParaRPr sz="1500" dirty="0">
              <a:latin typeface="Arial"/>
              <a:cs typeface="Arial"/>
            </a:endParaRPr>
          </a:p>
          <a:p>
            <a:pPr marL="574675" lvl="1" indent="-203835">
              <a:lnSpc>
                <a:spcPct val="100000"/>
              </a:lnSpc>
              <a:spcBef>
                <a:spcPts val="5"/>
              </a:spcBef>
              <a:buChar char="–"/>
              <a:tabLst>
                <a:tab pos="575310" algn="l"/>
              </a:tabLst>
            </a:pPr>
            <a:r>
              <a:rPr sz="1500" spc="-10" dirty="0">
                <a:latin typeface="Arial"/>
                <a:cs typeface="Arial"/>
              </a:rPr>
              <a:t>Near-net-</a:t>
            </a:r>
            <a:r>
              <a:rPr sz="1500" dirty="0">
                <a:latin typeface="Arial"/>
                <a:cs typeface="Arial"/>
              </a:rPr>
              <a:t>shape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met</a:t>
            </a:r>
            <a:r>
              <a:rPr sz="1500" spc="15" dirty="0">
                <a:latin typeface="Arial"/>
                <a:cs typeface="Arial"/>
              </a:rPr>
              <a:t> </a:t>
            </a:r>
            <a:r>
              <a:rPr sz="1500" dirty="0" err="1">
                <a:latin typeface="Arial"/>
                <a:cs typeface="Arial"/>
              </a:rPr>
              <a:t>afnemende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-10" dirty="0" err="1">
                <a:latin typeface="Arial"/>
                <a:cs typeface="Arial"/>
              </a:rPr>
              <a:t>wanddikt</a:t>
            </a:r>
            <a:r>
              <a:rPr lang="nl-BE" sz="1500" spc="-10" dirty="0">
                <a:latin typeface="Arial"/>
                <a:cs typeface="Arial"/>
              </a:rPr>
              <a:t>e</a:t>
            </a:r>
          </a:p>
        </p:txBody>
      </p:sp>
      <p:grpSp>
        <p:nvGrpSpPr>
          <p:cNvPr id="41" name="object 41"/>
          <p:cNvGrpSpPr/>
          <p:nvPr/>
        </p:nvGrpSpPr>
        <p:grpSpPr>
          <a:xfrm>
            <a:off x="670503" y="8783713"/>
            <a:ext cx="6180455" cy="347345"/>
            <a:chOff x="670503" y="8783713"/>
            <a:chExt cx="6180455" cy="347345"/>
          </a:xfrm>
        </p:grpSpPr>
        <p:sp>
          <p:nvSpPr>
            <p:cNvPr id="42" name="object 42"/>
            <p:cNvSpPr/>
            <p:nvPr/>
          </p:nvSpPr>
          <p:spPr>
            <a:xfrm>
              <a:off x="675265" y="8788475"/>
              <a:ext cx="6170930" cy="337820"/>
            </a:xfrm>
            <a:custGeom>
              <a:avLst/>
              <a:gdLst/>
              <a:ahLst/>
              <a:cxnLst/>
              <a:rect l="l" t="t" r="r" b="b"/>
              <a:pathLst>
                <a:path w="6170930" h="337820">
                  <a:moveTo>
                    <a:pt x="6114490" y="0"/>
                  </a:moveTo>
                  <a:lnTo>
                    <a:pt x="56301" y="0"/>
                  </a:lnTo>
                  <a:lnTo>
                    <a:pt x="34395" y="4427"/>
                  </a:lnTo>
                  <a:lnTo>
                    <a:pt x="16498" y="16498"/>
                  </a:lnTo>
                  <a:lnTo>
                    <a:pt x="4427" y="34395"/>
                  </a:lnTo>
                  <a:lnTo>
                    <a:pt x="0" y="56301"/>
                  </a:lnTo>
                  <a:lnTo>
                    <a:pt x="0" y="337811"/>
                  </a:lnTo>
                  <a:lnTo>
                    <a:pt x="6170792" y="337811"/>
                  </a:lnTo>
                  <a:lnTo>
                    <a:pt x="6170792" y="56301"/>
                  </a:lnTo>
                  <a:lnTo>
                    <a:pt x="6166364" y="34395"/>
                  </a:lnTo>
                  <a:lnTo>
                    <a:pt x="6154293" y="16498"/>
                  </a:lnTo>
                  <a:lnTo>
                    <a:pt x="6136396" y="4427"/>
                  </a:lnTo>
                  <a:lnTo>
                    <a:pt x="6114490" y="0"/>
                  </a:lnTo>
                  <a:close/>
                </a:path>
              </a:pathLst>
            </a:custGeom>
            <a:solidFill>
              <a:srgbClr val="00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5265" y="8788475"/>
              <a:ext cx="6170930" cy="337820"/>
            </a:xfrm>
            <a:custGeom>
              <a:avLst/>
              <a:gdLst/>
              <a:ahLst/>
              <a:cxnLst/>
              <a:rect l="l" t="t" r="r" b="b"/>
              <a:pathLst>
                <a:path w="6170930" h="337820">
                  <a:moveTo>
                    <a:pt x="56301" y="0"/>
                  </a:moveTo>
                  <a:lnTo>
                    <a:pt x="6114490" y="0"/>
                  </a:lnTo>
                  <a:lnTo>
                    <a:pt x="6136396" y="4427"/>
                  </a:lnTo>
                  <a:lnTo>
                    <a:pt x="6154293" y="16498"/>
                  </a:lnTo>
                  <a:lnTo>
                    <a:pt x="6166364" y="34395"/>
                  </a:lnTo>
                  <a:lnTo>
                    <a:pt x="6170792" y="56301"/>
                  </a:lnTo>
                  <a:lnTo>
                    <a:pt x="6170792" y="337811"/>
                  </a:lnTo>
                  <a:lnTo>
                    <a:pt x="0" y="337811"/>
                  </a:lnTo>
                  <a:lnTo>
                    <a:pt x="0" y="56301"/>
                  </a:lnTo>
                  <a:lnTo>
                    <a:pt x="4427" y="34395"/>
                  </a:lnTo>
                  <a:lnTo>
                    <a:pt x="16498" y="16498"/>
                  </a:lnTo>
                  <a:lnTo>
                    <a:pt x="34395" y="4427"/>
                  </a:lnTo>
                  <a:lnTo>
                    <a:pt x="56301" y="0"/>
                  </a:lnTo>
                  <a:close/>
                </a:path>
              </a:pathLst>
            </a:custGeom>
            <a:ln w="8946">
              <a:solidFill>
                <a:srgbClr val="002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384905" y="8832674"/>
            <a:ext cx="275399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STRATEGIEBEPALING</a:t>
            </a:r>
            <a:r>
              <a:rPr sz="15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Arial"/>
                <a:cs typeface="Arial"/>
              </a:rPr>
              <a:t>STAAL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3497" y="6153615"/>
            <a:ext cx="6780571" cy="20018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E8BA-F85D-78B6-6C4F-4C937294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40A85D-636D-A7BF-A60A-F06569A929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197861"/>
            <a:ext cx="10922000" cy="2451460"/>
          </a:xfrm>
        </p:spPr>
        <p:txBody>
          <a:bodyPr>
            <a:normAutofit lnSpcReduction="10000"/>
          </a:bodyPr>
          <a:lstStyle/>
          <a:p>
            <a:r>
              <a:rPr lang="nl-NL" dirty="0">
                <a:solidFill>
                  <a:srgbClr val="FA6432"/>
                </a:solidFill>
              </a:rPr>
              <a:t>Titel </a:t>
            </a:r>
            <a:r>
              <a:rPr lang="nl-NL" dirty="0" err="1">
                <a:solidFill>
                  <a:srgbClr val="FA6432"/>
                </a:solidFill>
              </a:rPr>
              <a:t>Bachelorproef</a:t>
            </a:r>
            <a:endParaRPr lang="nl-NL" dirty="0">
              <a:solidFill>
                <a:srgbClr val="FA6432"/>
              </a:solidFill>
            </a:endParaRPr>
          </a:p>
          <a:p>
            <a:pPr lvl="1">
              <a:spcAft>
                <a:spcPts val="600"/>
              </a:spcAft>
            </a:pPr>
            <a:r>
              <a:rPr lang="nl-NL" dirty="0"/>
              <a:t>Ondertitel </a:t>
            </a:r>
            <a:r>
              <a:rPr lang="nl-NL" dirty="0" err="1"/>
              <a:t>bachelorproef</a:t>
            </a:r>
            <a:br>
              <a:rPr lang="nl-NL" dirty="0"/>
            </a:br>
            <a:r>
              <a:rPr lang="nl-NL" sz="1878" dirty="0"/>
              <a:t>Professionele bachelor Elektromechanica/Autotechnologie/ Elektronica-ICT/Ontwerp- en Productietechnologie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E9FA23-7315-698D-5A05-CA4610D74989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678097" y="8629543"/>
            <a:ext cx="6170917" cy="812907"/>
          </a:xfrm>
          <a:ln>
            <a:solidFill>
              <a:srgbClr val="00283C"/>
            </a:solidFill>
          </a:ln>
        </p:spPr>
        <p:txBody>
          <a:bodyPr/>
          <a:lstStyle/>
          <a:p>
            <a:pPr marL="0" lvl="2" indent="0">
              <a:buNone/>
            </a:pPr>
            <a:r>
              <a:rPr lang="nl-NL" dirty="0"/>
              <a:t>tekst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962BB9-9B90-ED10-22FB-FE071D22942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78097" y="8293841"/>
            <a:ext cx="6170917" cy="338132"/>
          </a:xfrm>
          <a:solidFill>
            <a:srgbClr val="00283C"/>
          </a:solidFill>
          <a:ln>
            <a:solidFill>
              <a:srgbClr val="00283C"/>
            </a:solidFill>
          </a:ln>
        </p:spPr>
        <p:txBody>
          <a:bodyPr/>
          <a:lstStyle/>
          <a:p>
            <a:r>
              <a:rPr lang="nl-BE" dirty="0"/>
              <a:t>titel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1B421C-0185-60E8-2FA8-8A9CF240888E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7373120" y="8629543"/>
            <a:ext cx="6170917" cy="812907"/>
          </a:xfrm>
          <a:ln>
            <a:solidFill>
              <a:srgbClr val="00283C"/>
            </a:solidFill>
          </a:ln>
        </p:spPr>
        <p:txBody>
          <a:bodyPr/>
          <a:lstStyle/>
          <a:p>
            <a:pPr marL="0" lvl="2" indent="0">
              <a:buNone/>
            </a:pPr>
            <a:r>
              <a:rPr lang="en-US" dirty="0" err="1"/>
              <a:t>tekst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5E0F70-7440-8A17-7213-025DD5F8108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373120" y="8293841"/>
            <a:ext cx="6170917" cy="338132"/>
          </a:xfrm>
          <a:solidFill>
            <a:srgbClr val="00283C"/>
          </a:solidFill>
          <a:ln>
            <a:solidFill>
              <a:srgbClr val="00283C"/>
            </a:solidFill>
          </a:ln>
        </p:spPr>
        <p:txBody>
          <a:bodyPr/>
          <a:lstStyle/>
          <a:p>
            <a:r>
              <a:rPr lang="nl-BE" dirty="0"/>
              <a:t>titel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8C9EE6-C7E4-2556-8409-E449B175CA0C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78097" y="5012814"/>
            <a:ext cx="12865940" cy="2894438"/>
          </a:xfrm>
          <a:ln>
            <a:solidFill>
              <a:srgbClr val="00283C"/>
            </a:solidFill>
          </a:ln>
        </p:spPr>
        <p:txBody>
          <a:bodyPr/>
          <a:lstStyle/>
          <a:p>
            <a:pPr lvl="1" algn="just"/>
            <a:r>
              <a:rPr lang="nl-NL" dirty="0"/>
              <a:t>Tekst</a:t>
            </a:r>
          </a:p>
          <a:p>
            <a:pPr lvl="1" algn="just"/>
            <a:endParaRPr lang="nl-NL" dirty="0"/>
          </a:p>
          <a:p>
            <a:pPr lvl="1" algn="just"/>
            <a:endParaRPr lang="nl-NL" dirty="0"/>
          </a:p>
          <a:p>
            <a:pPr lvl="1" algn="just"/>
            <a:endParaRPr lang="nl-NL" dirty="0"/>
          </a:p>
          <a:p>
            <a:pPr lvl="1" algn="just"/>
            <a:endParaRPr lang="nl-NL" dirty="0"/>
          </a:p>
          <a:p>
            <a:pPr lvl="1" algn="just"/>
            <a:endParaRPr lang="nl-NL" dirty="0"/>
          </a:p>
          <a:p>
            <a:pPr lvl="1" algn="just"/>
            <a:endParaRPr lang="nl-NL" dirty="0"/>
          </a:p>
          <a:p>
            <a:pPr lvl="1" algn="just"/>
            <a:endParaRPr lang="nl-NL" dirty="0"/>
          </a:p>
          <a:p>
            <a:pPr lvl="1" algn="just"/>
            <a:endParaRPr lang="nl-NL"/>
          </a:p>
          <a:p>
            <a:pPr lvl="1" algn="just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65D24BE-219A-4922-7F46-309A7E6D98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solidFill>
            <a:srgbClr val="00283C"/>
          </a:solidFill>
          <a:ln>
            <a:solidFill>
              <a:srgbClr val="00283C"/>
            </a:solidFill>
          </a:ln>
        </p:spPr>
        <p:txBody>
          <a:bodyPr/>
          <a:lstStyle/>
          <a:p>
            <a:r>
              <a:rPr lang="nl-BE" dirty="0"/>
              <a:t>titel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F01A3-B0F4-5985-84DB-8F90DEAD0D4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78097" y="10187955"/>
            <a:ext cx="12865940" cy="5978039"/>
          </a:xfrm>
          <a:ln>
            <a:solidFill>
              <a:srgbClr val="00283C"/>
            </a:solidFill>
          </a:ln>
        </p:spPr>
        <p:txBody>
          <a:bodyPr/>
          <a:lstStyle/>
          <a:p>
            <a:r>
              <a:rPr lang="nl-NL" dirty="0">
                <a:solidFill>
                  <a:srgbClr val="FA6432"/>
                </a:solidFill>
              </a:rPr>
              <a:t>Eventuele tussentitel(s)</a:t>
            </a:r>
          </a:p>
          <a:p>
            <a:pPr marL="0" lvl="2" indent="0">
              <a:buNone/>
            </a:pPr>
            <a:r>
              <a:rPr lang="nl-NL" dirty="0"/>
              <a:t>tekst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C9C93B-5D6A-4EDB-6AC6-714777D9379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678097" y="9849148"/>
            <a:ext cx="12865940" cy="338132"/>
          </a:xfrm>
          <a:solidFill>
            <a:srgbClr val="00283C"/>
          </a:solidFill>
          <a:ln>
            <a:solidFill>
              <a:srgbClr val="00283C"/>
            </a:solidFill>
          </a:ln>
        </p:spPr>
        <p:txBody>
          <a:bodyPr/>
          <a:lstStyle/>
          <a:p>
            <a:r>
              <a:rPr lang="nl-BE" dirty="0"/>
              <a:t>Titel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AA18A6-9EAE-190E-B689-8C856C1907AC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678097" y="16727750"/>
            <a:ext cx="12865940" cy="1275469"/>
          </a:xfrm>
          <a:ln>
            <a:solidFill>
              <a:srgbClr val="FA6432"/>
            </a:solidFill>
          </a:ln>
        </p:spPr>
        <p:txBody>
          <a:bodyPr/>
          <a:lstStyle/>
          <a:p>
            <a:pPr lvl="1" algn="just"/>
            <a:r>
              <a:rPr lang="en-US" dirty="0" err="1"/>
              <a:t>tekst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5B6BE6-154E-8BC6-9FBB-5FA0B8AC4A0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78097" y="16389432"/>
            <a:ext cx="12865940" cy="338132"/>
          </a:xfrm>
          <a:solidFill>
            <a:srgbClr val="FA6432"/>
          </a:solidFill>
          <a:ln>
            <a:solidFill>
              <a:srgbClr val="FA6432"/>
            </a:solidFill>
          </a:ln>
        </p:spPr>
        <p:txBody>
          <a:bodyPr/>
          <a:lstStyle/>
          <a:p>
            <a:r>
              <a:rPr lang="nl-BE" dirty="0"/>
              <a:t>titel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144CC-D95D-E699-40C0-40FC9B3B9B5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923526" y="583289"/>
            <a:ext cx="9298643" cy="980693"/>
          </a:xfrm>
        </p:spPr>
        <p:txBody>
          <a:bodyPr/>
          <a:lstStyle/>
          <a:p>
            <a:r>
              <a:rPr lang="en-US" dirty="0" err="1"/>
              <a:t>Bedrijfspromotor</a:t>
            </a:r>
            <a:r>
              <a:rPr lang="en-US" dirty="0"/>
              <a:t>: </a:t>
            </a:r>
            <a:r>
              <a:rPr lang="en-US" b="0" dirty="0" err="1"/>
              <a:t>voornaam</a:t>
            </a:r>
            <a:r>
              <a:rPr lang="en-US" b="0" dirty="0"/>
              <a:t> &amp; </a:t>
            </a:r>
            <a:r>
              <a:rPr lang="en-US" b="0" dirty="0" err="1"/>
              <a:t>achternaam</a:t>
            </a:r>
            <a:r>
              <a:rPr lang="en-US" b="0" dirty="0"/>
              <a:t> </a:t>
            </a:r>
            <a:r>
              <a:rPr lang="en-US" b="0" dirty="0" err="1"/>
              <a:t>bedrijfspromotor</a:t>
            </a:r>
            <a:endParaRPr lang="en-US" b="0" dirty="0"/>
          </a:p>
          <a:p>
            <a:r>
              <a:rPr lang="en-US" dirty="0" err="1"/>
              <a:t>Hogeschoolpromotor</a:t>
            </a:r>
            <a:r>
              <a:rPr lang="en-US" b="0" dirty="0"/>
              <a:t>: </a:t>
            </a:r>
            <a:r>
              <a:rPr lang="en-US" b="0" dirty="0" err="1"/>
              <a:t>voornaam</a:t>
            </a:r>
            <a:r>
              <a:rPr lang="en-US" b="0" dirty="0"/>
              <a:t> &amp; </a:t>
            </a:r>
            <a:r>
              <a:rPr lang="en-US" b="0" dirty="0" err="1"/>
              <a:t>achternaam</a:t>
            </a:r>
            <a:r>
              <a:rPr lang="en-US" b="0" dirty="0"/>
              <a:t> </a:t>
            </a:r>
            <a:r>
              <a:rPr lang="en-US" b="0" dirty="0" err="1"/>
              <a:t>hogeschoolpromotor</a:t>
            </a:r>
            <a:br>
              <a:rPr lang="en-US" b="0" dirty="0"/>
            </a:br>
            <a:r>
              <a:rPr lang="en-US" dirty="0"/>
              <a:t>Student: </a:t>
            </a:r>
            <a:r>
              <a:rPr lang="en-US" b="0" dirty="0" err="1"/>
              <a:t>voornaam</a:t>
            </a:r>
            <a:r>
              <a:rPr lang="en-US" b="0" dirty="0"/>
              <a:t> &amp; </a:t>
            </a:r>
            <a:r>
              <a:rPr lang="en-US" b="0" dirty="0" err="1"/>
              <a:t>achternaam</a:t>
            </a:r>
            <a:r>
              <a:rPr lang="en-US" b="0" dirty="0"/>
              <a:t> student</a:t>
            </a:r>
          </a:p>
        </p:txBody>
      </p:sp>
      <p:pic>
        <p:nvPicPr>
          <p:cNvPr id="16" name="Picture Placeholder 15" descr="QR-Code_www.thomasmore.be.jpg">
            <a:extLst>
              <a:ext uri="{FF2B5EF4-FFF2-40B4-BE49-F238E27FC236}">
                <a16:creationId xmlns:a16="http://schemas.microsoft.com/office/drawing/2014/main" id="{1577FB4C-2C23-DCA8-2CCF-55DBD68AEBBE}"/>
              </a:ext>
            </a:extLst>
          </p:cNvPr>
          <p:cNvPicPr>
            <a:picLocks noGrp="1" noChangeAspect="1"/>
          </p:cNvPicPr>
          <p:nvPr>
            <p:ph type="pic" sz="quarter" idx="66"/>
          </p:nvPr>
        </p:nvPicPr>
        <p:blipFill>
          <a:blip r:embed="rId2" cstate="print"/>
          <a:srcRect l="31" r="3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BD6BC-A783-D148-5D20-7EDA83B9006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141746" y="18768437"/>
            <a:ext cx="6661104" cy="1361080"/>
          </a:xfrm>
        </p:spPr>
        <p:txBody>
          <a:bodyPr>
            <a:normAutofit lnSpcReduction="10000"/>
          </a:bodyPr>
          <a:lstStyle/>
          <a:p>
            <a:r>
              <a:rPr lang="nl-BE" dirty="0"/>
              <a:t>Thomas More  | Campus De Nayer</a:t>
            </a:r>
          </a:p>
          <a:p>
            <a:r>
              <a:rPr lang="nl-BE" dirty="0"/>
              <a:t>Jan Pieter De </a:t>
            </a:r>
            <a:r>
              <a:rPr lang="nl-BE" dirty="0" err="1"/>
              <a:t>Nayerlaan</a:t>
            </a:r>
            <a:r>
              <a:rPr lang="nl-BE" dirty="0"/>
              <a:t> 5, 2860 Sint-Katelijne-Waver, België</a:t>
            </a:r>
          </a:p>
          <a:p>
            <a:r>
              <a:rPr lang="nl-BE" dirty="0"/>
              <a:t>Tel. + 32 (0)15 31 69 44 | www.thomasmore.be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C9208C-20FD-6A1B-63E6-3CC55BE06CD7}"/>
              </a:ext>
            </a:extLst>
          </p:cNvPr>
          <p:cNvSpPr txBox="1">
            <a:spLocks/>
          </p:cNvSpPr>
          <p:nvPr/>
        </p:nvSpPr>
        <p:spPr>
          <a:xfrm>
            <a:off x="9856322" y="2400462"/>
            <a:ext cx="3690703" cy="2046257"/>
          </a:xfrm>
          <a:prstGeom prst="rect">
            <a:avLst/>
          </a:prstGeom>
          <a:ln w="19050">
            <a:solidFill>
              <a:srgbClr val="00283C"/>
            </a:solidFill>
            <a:prstDash val="lgDash"/>
          </a:ln>
        </p:spPr>
        <p:txBody>
          <a:bodyPr vert="horz" wrap="square" lIns="360000" tIns="288000" rIns="360000" bIns="288000" rtlCol="0">
            <a:spAutoFit/>
          </a:bodyPr>
          <a:lstStyle>
            <a:lvl1pPr marL="0" indent="0" algn="l" defTabSz="202867" rtl="0" eaLnBrk="1" latinLnBrk="0" hangingPunct="1">
              <a:spcBef>
                <a:spcPts val="0"/>
              </a:spcBef>
              <a:spcAft>
                <a:spcPts val="564"/>
              </a:spcAft>
              <a:buFont typeface="Arial" pitchFamily="34" charset="0"/>
              <a:buNone/>
              <a:tabLst>
                <a:tab pos="202867" algn="l"/>
              </a:tabLst>
              <a:defRPr sz="1503" b="1" kern="1200" cap="all" baseline="0">
                <a:solidFill>
                  <a:srgbClr val="FA643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0" indent="-202867" algn="l" defTabSz="202867" rtl="0" eaLnBrk="1" latinLnBrk="0" hangingPunct="1">
              <a:spcBef>
                <a:spcPts val="0"/>
              </a:spcBef>
              <a:buFont typeface="Arial" pitchFamily="34" charset="0"/>
              <a:buNone/>
              <a:tabLst>
                <a:tab pos="202867" algn="l"/>
              </a:tabLst>
              <a:defRPr lang="nl-NL" sz="1503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202867" indent="-202867" algn="l" defTabSz="202867" rtl="0" eaLnBrk="1" latinLnBrk="0" hangingPunct="1">
              <a:spcBef>
                <a:spcPts val="0"/>
              </a:spcBef>
              <a:buFont typeface="Arial" pitchFamily="34" charset="0"/>
              <a:buChar char="•"/>
              <a:tabLst>
                <a:tab pos="202867" algn="l"/>
              </a:tabLst>
              <a:defRPr sz="1503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405734" indent="-202867" algn="l" defTabSz="202867" rtl="0" eaLnBrk="1" latinLnBrk="0" hangingPunct="1">
              <a:spcBef>
                <a:spcPts val="0"/>
              </a:spcBef>
              <a:buFont typeface="Arial" pitchFamily="34" charset="0"/>
              <a:buChar char="–"/>
              <a:tabLst>
                <a:tab pos="202867" algn="l"/>
              </a:tabLst>
              <a:defRPr sz="1503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08602" indent="-202867" algn="l" defTabSz="202867" rtl="0" eaLnBrk="1" latinLnBrk="0" hangingPunct="1">
              <a:spcBef>
                <a:spcPts val="0"/>
              </a:spcBef>
              <a:buFont typeface="Arial" pitchFamily="34" charset="0"/>
              <a:buChar char="»"/>
              <a:tabLst>
                <a:tab pos="202867" algn="l"/>
              </a:tabLst>
              <a:defRPr sz="1503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5393442" indent="-490313" algn="l" defTabSz="1961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74068" indent="-490313" algn="l" defTabSz="1961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54694" indent="-490313" algn="l" defTabSz="1961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335320" indent="-490313" algn="l" defTabSz="19612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VOEG HIER OF ELDERS OP DE POSTER het LOGO VAN BEDRIJF TOE</a:t>
            </a:r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496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M_onderzoekspo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4C2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emplate poster Ndl - nieuwe huisstijl" id="{E0766082-3E70-4B42-9526-B32DA8218B1E}" vid="{810DE59E-94B9-48FF-8DF0-CB6633C3BFE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307FBA45E73B4C8D5201D6E93AE7FF" ma:contentTypeVersion="10" ma:contentTypeDescription="Een nieuw document maken." ma:contentTypeScope="" ma:versionID="ffc79c833aa11187a9b03609d0ef013b">
  <xsd:schema xmlns:xsd="http://www.w3.org/2001/XMLSchema" xmlns:xs="http://www.w3.org/2001/XMLSchema" xmlns:p="http://schemas.microsoft.com/office/2006/metadata/properties" xmlns:ns2="08656f9a-5533-445c-9745-8b78b9f32e94" targetNamespace="http://schemas.microsoft.com/office/2006/metadata/properties" ma:root="true" ma:fieldsID="f1de88abeb94c0a233512af3206a5add" ns2:_="">
    <xsd:import namespace="08656f9a-5533-445c-9745-8b78b9f32e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56f9a-5533-445c-9745-8b78b9f32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E7141F-FBCE-4A78-9588-4D54994EB7F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08656f9a-5533-445c-9745-8b78b9f32e94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677BFE8-9222-4836-8D51-287619E2A1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56f9a-5533-445c-9745-8b78b9f32e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4C8F74-1D82-4571-8BB4-C4A1A1557D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423</Words>
  <Application>Microsoft Office PowerPoint</Application>
  <PresentationFormat>Custom</PresentationFormat>
  <Paragraphs>87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TM_onderzoeksposter</vt:lpstr>
      <vt:lpstr>Technische aspecten van Wire Arc Additive Manufacturing (WAAM)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Lies Hendrickx</dc:creator>
  <cp:lastModifiedBy>Yente Lens</cp:lastModifiedBy>
  <cp:revision>9</cp:revision>
  <dcterms:created xsi:type="dcterms:W3CDTF">2024-09-23T10:56:21Z</dcterms:created>
  <dcterms:modified xsi:type="dcterms:W3CDTF">2026-04-27T12:12:00Z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Creator">
    <vt:lpwstr>Microsoft® PowerPoint® voor Microsoft 365</vt:lpwstr>
  </property>
  <property fmtid="{D5CDD505-2E9C-101B-9397-08002B2CF9AE}" pid="4" name="LastSaved">
    <vt:filetime>2024-09-23T00:00:00Z</vt:filetime>
  </property>
  <property fmtid="{D5CDD505-2E9C-101B-9397-08002B2CF9AE}" pid="5" name="MSIP_Label_c337be75-dfbb-4261-9834-ac247c7dde13_ActionId">
    <vt:lpwstr>0fafaa73-70c8-4c0c-b6bd-cf063af0cb89</vt:lpwstr>
  </property>
  <property fmtid="{D5CDD505-2E9C-101B-9397-08002B2CF9AE}" pid="6" name="MSIP_Label_c337be75-dfbb-4261-9834-ac247c7dde13_ContentBits">
    <vt:lpwstr>0</vt:lpwstr>
  </property>
  <property fmtid="{D5CDD505-2E9C-101B-9397-08002B2CF9AE}" pid="7" name="MSIP_Label_c337be75-dfbb-4261-9834-ac247c7dde13_Enabled">
    <vt:lpwstr>true</vt:lpwstr>
  </property>
  <property fmtid="{D5CDD505-2E9C-101B-9397-08002B2CF9AE}" pid="8" name="MSIP_Label_c337be75-dfbb-4261-9834-ac247c7dde13_Method">
    <vt:lpwstr>Standard</vt:lpwstr>
  </property>
  <property fmtid="{D5CDD505-2E9C-101B-9397-08002B2CF9AE}" pid="9" name="MSIP_Label_c337be75-dfbb-4261-9834-ac247c7dde13_Name">
    <vt:lpwstr>Algemeen</vt:lpwstr>
  </property>
  <property fmtid="{D5CDD505-2E9C-101B-9397-08002B2CF9AE}" pid="10" name="MSIP_Label_c337be75-dfbb-4261-9834-ac247c7dde13_SetDate">
    <vt:lpwstr>2024-04-30T07:33:52Z</vt:lpwstr>
  </property>
  <property fmtid="{D5CDD505-2E9C-101B-9397-08002B2CF9AE}" pid="11" name="MSIP_Label_c337be75-dfbb-4261-9834-ac247c7dde13_SiteId">
    <vt:lpwstr>77d33cc5-c9b4-4766-95c7-ed5b515e1cce</vt:lpwstr>
  </property>
  <property fmtid="{D5CDD505-2E9C-101B-9397-08002B2CF9AE}" pid="12" name="Producer">
    <vt:lpwstr>Microsoft® PowerPoint® voor Microsoft 365</vt:lpwstr>
  </property>
  <property fmtid="{D5CDD505-2E9C-101B-9397-08002B2CF9AE}" pid="13" name="ContentTypeId">
    <vt:lpwstr>0x0101001A307FBA45E73B4C8D5201D6E93AE7FF</vt:lpwstr>
  </property>
  <property fmtid="{D5CDD505-2E9C-101B-9397-08002B2CF9AE}" pid="14" name="MediaServiceImageTags">
    <vt:lpwstr/>
  </property>
</Properties>
</file>